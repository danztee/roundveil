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c5be1d59efc4d10" /><Relationship Type="http://schemas.openxmlformats.org/officeDocument/2006/relationships/extended-properties" Target="/docProps/app.xml" Id="Rab1dd22d3c5a4ec0" /><Relationship Type="http://schemas.openxmlformats.org/officeDocument/2006/relationships/officeDocument" Target="/ppt/presentation.xml" Id="Rdfa71fb20c2a49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a8e0f00cc2540e6"/>
  </p:sldMasterIdLst>
  <p:notesMasterIdLst>
    <p:notesMasterId xmlns:r="http://schemas.openxmlformats.org/officeDocument/2006/relationships" r:id="Re9fa6797a36444ea"/>
  </p:notesMasterIdLst>
  <p:sldIdLst>
    <p:sldId xmlns:r="http://schemas.openxmlformats.org/officeDocument/2006/relationships" id="256" r:id="R018b1588c9b54b8d"/>
    <p:sldId xmlns:r="http://schemas.openxmlformats.org/officeDocument/2006/relationships" id="257" r:id="R1d485f75e7474d0e"/>
    <p:sldId xmlns:r="http://schemas.openxmlformats.org/officeDocument/2006/relationships" id="258" r:id="Rc0aa285de09e4d7d"/>
    <p:sldId xmlns:r="http://schemas.openxmlformats.org/officeDocument/2006/relationships" id="259" r:id="Rd7677426d78b4069"/>
    <p:sldId xmlns:r="http://schemas.openxmlformats.org/officeDocument/2006/relationships" id="260" r:id="R8663e916fe474c3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c63e41ac3a47cb" /><Relationship Type="http://schemas.openxmlformats.org/officeDocument/2006/relationships/slideMaster" Target="/ppt/slideMasters/slideMaster1.xml" Id="Rca8e0f00cc2540e6" /><Relationship Type="http://schemas.openxmlformats.org/officeDocument/2006/relationships/notesMaster" Target="/ppt/notesMasters/notesMaster1.xml" Id="Re9fa6797a36444ea" /><Relationship Type="http://schemas.openxmlformats.org/officeDocument/2006/relationships/presProps" Target="/ppt/presProps.xml" Id="R462862c2dd354129" /><Relationship Type="http://schemas.openxmlformats.org/officeDocument/2006/relationships/tableStyles" Target="/ppt/tableStyles.xml" Id="R18d5313e56c64ed7" /><Relationship Type="http://schemas.openxmlformats.org/officeDocument/2006/relationships/slide" Target="/ppt/slides/slide1.xml" Id="R018b1588c9b54b8d" /><Relationship Type="http://schemas.openxmlformats.org/officeDocument/2006/relationships/slide" Target="/ppt/slides/slide2.xml" Id="R1d485f75e7474d0e" /><Relationship Type="http://schemas.openxmlformats.org/officeDocument/2006/relationships/slide" Target="/ppt/slides/slide3.xml" Id="Rc0aa285de09e4d7d" /><Relationship Type="http://schemas.openxmlformats.org/officeDocument/2006/relationships/slide" Target="/ppt/slides/slide4.xml" Id="Rd7677426d78b4069" /><Relationship Type="http://schemas.openxmlformats.org/officeDocument/2006/relationships/slide" Target="/ppt/slides/slide5.xml" Id="R8663e916fe474c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3112183062545c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19df0dd6dec41df" /><Relationship Type="http://schemas.openxmlformats.org/officeDocument/2006/relationships/notesMaster" Target="/ppt/notesMasters/notesMaster1.xml" Id="R7692a1fa19a24d1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9605fdf94bd46f4" /><Relationship Type="http://schemas.openxmlformats.org/officeDocument/2006/relationships/notesMaster" Target="/ppt/notesMasters/notesMaster1.xml" Id="Rc3ef762af2174af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995ad5d40ac4746" /><Relationship Type="http://schemas.openxmlformats.org/officeDocument/2006/relationships/notesMaster" Target="/ppt/notesMasters/notesMaster1.xml" Id="R4fc85902024941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301a34fdc3a4141" /><Relationship Type="http://schemas.openxmlformats.org/officeDocument/2006/relationships/notesMaster" Target="/ppt/notesMasters/notesMaster1.xml" Id="R8488e1e4132449a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9cdef9ccea44423" /><Relationship Type="http://schemas.openxmlformats.org/officeDocument/2006/relationships/notesMaster" Target="/ppt/notesMasters/notesMaster1.xml" Id="R5bf2f081523c47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Prototype status: the browser demo creates a salted SHA-256 commitment locally. It does not yet generate a Midnight proof or connect to a deployed contract.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interface uses illustrative data only. The product hypothesis is that coordinator-led savings circles want a private way to check eligibility before a turn is paid.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intended transaction follows Midnight’s witness model: private values enter a circuit during local execution, and a proof can verify assertions without publishing the witness. Official guide: https://docs.midnight.network/guides/private-state-witnesses. The demo currently stops before that proof-generation step.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Midnight documentation distinguishes public ledger data from private state and witnesses. The circuit must assert any property it relies on. Official guide: https://docs.midnight.network/guides/private-state-witnesses.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first-user segment and pilot are product hypotheses, not reported traction. The prototype has not been deployed. Challenge context and technical gate: https://app.akindo.io/wave-hacks/jaMZjqPOBsLXvjdG.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eb1b41af3e481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05d454fbadb48d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d1b30bc38e46b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8aa5a3c277e413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6b4ab4f345474e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ef68916c1534e5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FDD00A6-DCFA-48C6-9945-5E62D88176D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94AA190-9327-419F-A07B-EA04D3FA5BC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37943D3-FC3A-4281-A2F4-785E7685311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F0FEAC5-8781-47F7-833F-DA127DFC40C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710DD90-275D-43CB-8252-4B4FD24E53E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8166251-3A7A-4A46-AAF7-1B094CB24A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20221641-A129-4CAB-9938-86F1B2F561B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92E11C0-6C20-4FCE-A4F1-9D117AC1112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920FA1F-A718-4687-9030-77A0E45CD0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B7C7D8-AEE8-41E4-A54A-D039F69D1D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22d2d9f59b34aaa" /><Relationship Type="http://schemas.openxmlformats.org/officeDocument/2006/relationships/slideLayout" Target="/ppt/slideLayouts/slideLayout1.xml" Id="Rafacfd1ec2084a20" /><Relationship Type="http://schemas.openxmlformats.org/officeDocument/2006/relationships/slideLayout" Target="/ppt/slideLayouts/slideLayout2.xml" Id="R4ffdb145a5dd4f33" /><Relationship Type="http://schemas.openxmlformats.org/officeDocument/2006/relationships/slideLayout" Target="/ppt/slideLayouts/slideLayout3.xml" Id="Rd513955032174c75" /><Relationship Type="http://schemas.openxmlformats.org/officeDocument/2006/relationships/slideLayout" Target="/ppt/slideLayouts/slideLayout4.xml" Id="R745660e5b8b84d6d" /><Relationship Type="http://schemas.openxmlformats.org/officeDocument/2006/relationships/slideLayout" Target="/ppt/slideLayouts/slideLayout5.xml" Id="R279424bbac784fbb" /><Relationship Type="http://schemas.openxmlformats.org/officeDocument/2006/relationships/slideLayout" Target="/ppt/slideLayouts/slideLayout6.xml" Id="Rd01d6b98c15c448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acfd1ec2084a20"/>
    <p:sldLayoutId xmlns:r="http://schemas.openxmlformats.org/officeDocument/2006/relationships" id="2147483650" r:id="R4ffdb145a5dd4f33"/>
    <p:sldLayoutId xmlns:r="http://schemas.openxmlformats.org/officeDocument/2006/relationships" id="2147483651" r:id="Rd513955032174c75"/>
    <p:sldLayoutId xmlns:r="http://schemas.openxmlformats.org/officeDocument/2006/relationships" id="2147483652" r:id="R745660e5b8b84d6d"/>
    <p:sldLayoutId xmlns:r="http://schemas.openxmlformats.org/officeDocument/2006/relationships" id="2147483653" r:id="R279424bbac784fbb"/>
    <p:sldLayoutId xmlns:r="http://schemas.openxmlformats.org/officeDocument/2006/relationships" id="2147483654" r:id="Rd01d6b98c15c448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51a805a699145a2" /><Relationship Type="http://schemas.openxmlformats.org/officeDocument/2006/relationships/notesSlide" Target="/ppt/notesSlides/notesSlide1.xml" Id="R2d306e8fa64d493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bd6e710a774d2d" /><Relationship Type="http://schemas.openxmlformats.org/officeDocument/2006/relationships/notesSlide" Target="/ppt/notesSlides/notesSlide2.xml" Id="Rddff2027c08442d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bbad16825d4bbe" /><Relationship Type="http://schemas.openxmlformats.org/officeDocument/2006/relationships/notesSlide" Target="/ppt/notesSlides/notesSlide3.xml" Id="Re5b0b5ade5f9484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c6730266364eaf" /><Relationship Type="http://schemas.openxmlformats.org/officeDocument/2006/relationships/notesSlide" Target="/ppt/notesSlides/notesSlide4.xml" Id="R92a875720c98447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c5ac095057b4398" /><Relationship Type="http://schemas.openxmlformats.org/officeDocument/2006/relationships/notesSlide" Target="/ppt/notesSlides/notesSlide5.xml" Id="R79656c8cd20b4a8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8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041ABA96-C92C-4BAC-9981-F70F09CCE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89535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76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cover-brand">
            <a:extLst xmlns:a="http://schemas.openxmlformats.org/drawingml/2006/main">
              <a:ext uri="{FF2B5EF4-FFF2-40B4-BE49-F238E27FC236}">
                <a16:creationId xmlns:a16="http://schemas.microsoft.com/office/drawing/2014/main" id="{5107124C-79F8-41DF-B8B8-3FBB5592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838200"/>
            <a:ext cx="4381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4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Roundveil</a:t>
            </a:r>
          </a:p>
        </p:txBody>
      </p:sp>
      <p:sp>
        <p:nvSpPr>
          <p:cNvPr id="3" name="cover-description">
            <a:extLst xmlns:a="http://schemas.openxmlformats.org/drawingml/2006/main">
              <a:ext uri="{FF2B5EF4-FFF2-40B4-BE49-F238E27FC236}">
                <a16:creationId xmlns:a16="http://schemas.microsoft.com/office/drawing/2014/main" id="{8514601A-1486-4C33-BB46-23DC5B01C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905000"/>
            <a:ext cx="73342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Private contribution eligibility</a:t>
            </a:r>
          </a:p>
          <a:p xmlns:a="http://schemas.openxmlformats.org/drawingml/2006/main">
            <a:pPr algn="l"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for rotating savings circles</a:t>
            </a:r>
          </a:p>
        </p:txBody>
      </p:sp>
      <p:sp>
        <p:nvSpPr>
          <p:cNvPr id="4" name="cover-support">
            <a:extLst xmlns:a="http://schemas.openxmlformats.org/drawingml/2006/main">
              <a:ext uri="{FF2B5EF4-FFF2-40B4-BE49-F238E27FC236}">
                <a16:creationId xmlns:a16="http://schemas.microsoft.com/office/drawing/2014/main" id="{ECE7EC14-F9BB-4536-A539-51B4C784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381375"/>
            <a:ext cx="7143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defPPr>
            <a:lvl1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1pPr>
            <a:lvl2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2pPr>
            <a:lvl3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3pPr>
            <a:lvl4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4pPr>
            <a:lvl5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5pPr>
            <a:lvl6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6pPr>
            <a:lvl7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7pPr>
            <a:lvl8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8pPr>
            <a:lvl9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C6CBE8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C6CBE8"/>
                </a:solidFill>
                <a:latin typeface="Arial"/>
                <a:ea typeface="Arial"/>
                <a:cs typeface="Arial"/>
              </a:rPr>
              <a:t>A member can prove they met the circle rule without publishing their amount.</a:t>
            </a:r>
          </a:p>
        </p:txBody>
      </p:sp>
      <p:sp>
        <p:nvSpPr>
          <p:cNvPr id="5" name="cover-rule">
            <a:extLst xmlns:a="http://schemas.openxmlformats.org/drawingml/2006/main">
              <a:ext uri="{FF2B5EF4-FFF2-40B4-BE49-F238E27FC236}">
                <a16:creationId xmlns:a16="http://schemas.microsoft.com/office/drawing/2014/main" id="{190E1FA4-505F-44C0-A14F-8A5597590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9810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4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cover-wave">
            <a:extLst xmlns:a="http://schemas.openxmlformats.org/drawingml/2006/main">
              <a:ext uri="{FF2B5EF4-FFF2-40B4-BE49-F238E27FC236}">
                <a16:creationId xmlns:a16="http://schemas.microsoft.com/office/drawing/2014/main" id="{8C002940-2E18-4987-AB01-A08C44421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72050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ABB3E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ABB3E5"/>
                </a:solidFill>
                <a:latin typeface="Arial"/>
                <a:ea typeface="Arial"/>
                <a:cs typeface="Arial"/>
              </a:rPr>
              <a:t>MIDNIGHT BUILDATHON  ·  WAVE 2 PROTOTYPE</a:t>
            </a:r>
          </a:p>
        </p:txBody>
      </p:sp>
      <p:sp>
        <p:nvSpPr>
          <p:cNvPr id="7" name="cover-status">
            <a:extLst xmlns:a="http://schemas.openxmlformats.org/drawingml/2006/main">
              <a:ext uri="{FF2B5EF4-FFF2-40B4-BE49-F238E27FC236}">
                <a16:creationId xmlns:a16="http://schemas.microsoft.com/office/drawing/2014/main" id="{9A1372FA-FA19-4D17-AE4C-54838AD1E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00675"/>
            <a:ext cx="571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Local demo + Compact source</a:t>
            </a:r>
          </a:p>
        </p:txBody>
      </p:sp>
      <p:sp>
        <p:nvSpPr>
          <p:cNvPr id="8" name="cover-cycle">
            <a:extLst xmlns:a="http://schemas.openxmlformats.org/drawingml/2006/main">
              <a:ext uri="{FF2B5EF4-FFF2-40B4-BE49-F238E27FC236}">
                <a16:creationId xmlns:a16="http://schemas.microsoft.com/office/drawing/2014/main" id="{405AD264-BD53-4549-A1FA-63F92B006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553075"/>
            <a:ext cx="114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AB2E2"/>
                </a:solidFill>
                <a:latin typeface="Arial"/>
                <a:ea typeface="Arial"/>
                <a:cs typeface="Arial"/>
              </a:rPr>
              <a:t>01 / 05</a:t>
            </a:r>
          </a:p>
        </p:txBody>
      </p:sp>
    </p:spTree>
    <p:extLst>
      <p:ext uri="{BB962C8B-B14F-4D97-AF65-F5344CB8AC3E}">
        <p14:creationId xmlns:p14="http://schemas.microsoft.com/office/powerpoint/2010/main" val="5563084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2-kicker">
            <a:extLst xmlns:a="http://schemas.openxmlformats.org/drawingml/2006/main">
              <a:ext uri="{FF2B5EF4-FFF2-40B4-BE49-F238E27FC236}">
                <a16:creationId xmlns:a16="http://schemas.microsoft.com/office/drawing/2014/main" id="{494F916E-08CD-4ACA-A728-27CD5D3FF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150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B5BF5"/>
                </a:solidFill>
                <a:latin typeface="Arial"/>
                <a:ea typeface="Arial"/>
                <a:cs typeface="Arial"/>
              </a:rPr>
              <a:t>THE PRIVACY GAP</a:t>
            </a:r>
          </a:p>
        </p:txBody>
      </p:sp>
      <p:sp>
        <p:nvSpPr>
          <p:cNvPr id="2" name="s2-title">
            <a:extLst xmlns:a="http://schemas.openxmlformats.org/drawingml/2006/main">
              <a:ext uri="{FF2B5EF4-FFF2-40B4-BE49-F238E27FC236}">
                <a16:creationId xmlns:a16="http://schemas.microsoft.com/office/drawing/2014/main" id="{46741CDC-8185-4C23-B32A-3E0AE121C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028700"/>
            <a:ext cx="10001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10184E"/>
                </a:solidFill>
                <a:latin typeface="Arial"/>
                <a:ea typeface="Arial"/>
                <a:cs typeface="Arial"/>
              </a:rPr>
              <a:t>A contribution check should not expose a member’s history</a:t>
            </a:r>
          </a:p>
        </p:txBody>
      </p:sp>
      <p:sp>
        <p:nvSpPr>
          <p:cNvPr id="3" name="s2-left-label">
            <a:extLst xmlns:a="http://schemas.openxmlformats.org/drawingml/2006/main">
              <a:ext uri="{FF2B5EF4-FFF2-40B4-BE49-F238E27FC236}">
                <a16:creationId xmlns:a16="http://schemas.microsoft.com/office/drawing/2014/main" id="{2853AB31-B239-4ECC-870D-8BBD6A40B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737A99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737A99"/>
                </a:solidFill>
                <a:latin typeface="Arial"/>
                <a:ea typeface="Arial"/>
                <a:cs typeface="Arial"/>
              </a:rPr>
              <a:t>THE COORDINATOR NEEDS</a:t>
            </a:r>
          </a:p>
        </p:txBody>
      </p:sp>
      <p:sp>
        <p:nvSpPr>
          <p:cNvPr id="4" name="s2-left-body">
            <a:extLst xmlns:a="http://schemas.openxmlformats.org/drawingml/2006/main">
              <a:ext uri="{FF2B5EF4-FFF2-40B4-BE49-F238E27FC236}">
                <a16:creationId xmlns:a16="http://schemas.microsoft.com/office/drawing/2014/main" id="{D96F2AE6-DF9E-4B4E-9111-D79937598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19450"/>
            <a:ext cx="476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E2448"/>
                </a:solidFill>
                <a:latin typeface="Arial"/>
                <a:ea typeface="Arial"/>
                <a:cs typeface="Arial"/>
              </a:rPr>
              <a:t>A clear answer to one question:</a:t>
            </a:r>
          </a:p>
          <a:p xmlns:a="http://schemas.openxmlformats.org/drawingml/2006/main">
            <a:pPr algn="l">
              <a:defRPr sz="21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E2448"/>
                </a:solidFill>
                <a:latin typeface="Arial"/>
                <a:ea typeface="Arial"/>
                <a:cs typeface="Arial"/>
              </a:rPr>
              <a:t>Did this member meet the rule for this turn?</a:t>
            </a:r>
          </a:p>
        </p:txBody>
      </p:sp>
      <p:sp>
        <p:nvSpPr>
          <p:cNvPr id="5" name="s2-left-foot">
            <a:extLst xmlns:a="http://schemas.openxmlformats.org/drawingml/2006/main">
              <a:ext uri="{FF2B5EF4-FFF2-40B4-BE49-F238E27FC236}">
                <a16:creationId xmlns:a16="http://schemas.microsoft.com/office/drawing/2014/main" id="{1FA78FE8-607C-4676-B411-440F3DED7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0055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A99"/>
                </a:solidFill>
                <a:latin typeface="Arial"/>
                <a:ea typeface="Arial"/>
                <a:cs typeface="Arial"/>
              </a:rPr>
              <a:t>The group needs confidence before it releases a payout.</a:t>
            </a:r>
          </a:p>
        </p:txBody>
      </p:sp>
      <p:sp>
        <p:nvSpPr>
          <p:cNvPr id="6" name="s2-divider">
            <a:extLst xmlns:a="http://schemas.openxmlformats.org/drawingml/2006/main">
              <a:ext uri="{FF2B5EF4-FFF2-40B4-BE49-F238E27FC236}">
                <a16:creationId xmlns:a16="http://schemas.microsoft.com/office/drawing/2014/main" id="{E9B5D7C4-C6D3-43DD-B770-F9C23D81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1905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B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2-right-label">
            <a:extLst xmlns:a="http://schemas.openxmlformats.org/drawingml/2006/main">
              <a:ext uri="{FF2B5EF4-FFF2-40B4-BE49-F238E27FC236}">
                <a16:creationId xmlns:a16="http://schemas.microsoft.com/office/drawing/2014/main" id="{5F1E09C4-DE3A-4000-AAF5-501A3FDE1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781300"/>
            <a:ext cx="4667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765F"/>
                </a:solidFill>
                <a:latin typeface="Arial"/>
                <a:ea typeface="Arial"/>
                <a:cs typeface="Arial"/>
              </a:rPr>
              <a:t>THE PUBLIC DOES NOT NEED</a:t>
            </a:r>
          </a:p>
        </p:txBody>
      </p:sp>
      <p:sp>
        <p:nvSpPr>
          <p:cNvPr id="8" name="s2-right-body">
            <a:extLst xmlns:a="http://schemas.openxmlformats.org/drawingml/2006/main">
              <a:ext uri="{FF2B5EF4-FFF2-40B4-BE49-F238E27FC236}">
                <a16:creationId xmlns:a16="http://schemas.microsoft.com/office/drawing/2014/main" id="{BC8AAA04-0FC3-4A53-AF93-A6BC7CD6E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219450"/>
            <a:ext cx="4762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2448"/>
                </a:solidFill>
                <a:latin typeface="Arial"/>
                <a:ea typeface="Arial"/>
                <a:cs typeface="Arial"/>
              </a:rPr>
              <a:t>The amount in a member’s account.</a:t>
            </a:r>
          </a:p>
          <a:p xmlns:a="http://schemas.openxmlformats.org/drawingml/2006/main">
            <a: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2448"/>
                </a:solidFill>
                <a:latin typeface="Arial"/>
                <a:ea typeface="Arial"/>
                <a:cs typeface="Arial"/>
              </a:rPr>
              <a:t>A full contribution history.</a:t>
            </a:r>
          </a:p>
          <a:p xmlns:a="http://schemas.openxmlformats.org/drawingml/2006/main">
            <a:pPr algn="l">
              <a:defRPr sz="1875" b="1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E2448"/>
                </a:solidFill>
                <a:latin typeface="Arial"/>
                <a:ea typeface="Arial"/>
                <a:cs typeface="Arial"/>
              </a:rPr>
              <a:t>A name attached to every payment.</a:t>
            </a:r>
          </a:p>
        </p:txBody>
      </p:sp>
      <p:sp>
        <p:nvSpPr>
          <p:cNvPr id="9" name="s2-right-foot">
            <a:extLst xmlns:a="http://schemas.openxmlformats.org/drawingml/2006/main">
              <a:ext uri="{FF2B5EF4-FFF2-40B4-BE49-F238E27FC236}">
                <a16:creationId xmlns:a16="http://schemas.microsoft.com/office/drawing/2014/main" id="{FFD5AE3C-16C2-4A1A-8787-C10A47D09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62500"/>
            <a:ext cx="4381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defPPr>
            <a:lvl1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1pPr>
            <a:lvl2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2pPr>
            <a:lvl3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3pPr>
            <a:lvl4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4pPr>
            <a:lvl5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5pPr>
            <a:lvl6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6pPr>
            <a:lvl7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7pPr>
            <a:lvl8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8pPr>
            <a:lvl9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737A99"/>
                </a:solidFill>
                <a:latin typeface="Arial"/>
                <a:ea typeface="Arial"/>
                <a:cs typeface="Arial"/>
              </a:rPr>
              <a:t>Roundveil shares the eligibility result, not the underlying record.</a:t>
            </a:r>
          </a:p>
        </p:txBody>
      </p:sp>
      <p:sp>
        <p:nvSpPr>
          <p:cNvPr id="10" name="s2-footer">
            <a:extLst xmlns:a="http://schemas.openxmlformats.org/drawingml/2006/main">
              <a:ext uri="{FF2B5EF4-FFF2-40B4-BE49-F238E27FC236}">
                <a16:creationId xmlns:a16="http://schemas.microsoft.com/office/drawing/2014/main" id="{726FB94D-6DAC-4C2F-91A3-CED155417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76950"/>
            <a:ext cx="6667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defPPr>
            <a:lvl1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1pPr>
            <a:lvl2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2pPr>
            <a:lvl3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3pPr>
            <a:lvl4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4pPr>
            <a:lvl5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5pPr>
            <a:lvl6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6pPr>
            <a:lvl7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7pPr>
            <a:lvl8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8pPr>
            <a:lvl9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975" b="1">
                <a:solidFill>
                  <a:srgbClr val="9AA0B9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AA0B9"/>
                </a:solidFill>
                <a:latin typeface="Arial"/>
                <a:ea typeface="Arial"/>
                <a:cs typeface="Arial"/>
              </a:rPr>
              <a:t>SAVINGS CIRCLES · COORDINATOR-LED GROUPS</a:t>
            </a:r>
          </a:p>
        </p:txBody>
      </p:sp>
    </p:spTree>
    <p:extLst>
      <p:ext uri="{BB962C8B-B14F-4D97-AF65-F5344CB8AC3E}">
        <p14:creationId xmlns:p14="http://schemas.microsoft.com/office/powerpoint/2010/main" val="4634069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s3-kicker">
            <a:extLst xmlns:a="http://schemas.openxmlformats.org/drawingml/2006/main">
              <a:ext uri="{FF2B5EF4-FFF2-40B4-BE49-F238E27FC236}">
                <a16:creationId xmlns:a16="http://schemas.microsoft.com/office/drawing/2014/main" id="{D62625B4-2268-4F64-97CB-64853265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B5BF5"/>
                </a:solidFill>
                <a:latin typeface="Arial"/>
                <a:ea typeface="Arial"/>
                <a:cs typeface="Arial"/>
              </a:rPr>
              <a:t>THE PRODUCT FLOW</a:t>
            </a:r>
          </a:p>
        </p:txBody>
      </p:sp>
      <p:sp>
        <p:nvSpPr>
          <p:cNvPr id="2" name="s3-title">
            <a:extLst xmlns:a="http://schemas.openxmlformats.org/drawingml/2006/main">
              <a:ext uri="{FF2B5EF4-FFF2-40B4-BE49-F238E27FC236}">
                <a16:creationId xmlns:a16="http://schemas.microsoft.com/office/drawing/2014/main" id="{7837DB6C-C1E6-44A7-8F58-7490BFAC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4E"/>
                </a:solidFill>
                <a:latin typeface="Arial"/>
                <a:ea typeface="Arial"/>
                <a:cs typeface="Arial"/>
              </a:rPr>
              <a:t>One rule. One private check.</a:t>
            </a:r>
          </a:p>
        </p:txBody>
      </p:sp>
      <p:sp>
        <p:nvSpPr>
          <p:cNvPr id="3" name="s3-number-0">
            <a:extLst xmlns:a="http://schemas.openxmlformats.org/drawingml/2006/main">
              <a:ext uri="{FF2B5EF4-FFF2-40B4-BE49-F238E27FC236}">
                <a16:creationId xmlns:a16="http://schemas.microsoft.com/office/drawing/2014/main" id="{B6DC5CBC-CF05-4FB1-8AAF-0FC04B42D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3241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B5BF5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s3-step-rule-0">
            <a:extLst xmlns:a="http://schemas.openxmlformats.org/drawingml/2006/main">
              <a:ext uri="{FF2B5EF4-FFF2-40B4-BE49-F238E27FC236}">
                <a16:creationId xmlns:a16="http://schemas.microsoft.com/office/drawing/2014/main" id="{66A6EF05-EA98-43EF-AD71-48B5703D6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s3-step-title-0">
            <a:extLst xmlns:a="http://schemas.openxmlformats.org/drawingml/2006/main">
              <a:ext uri="{FF2B5EF4-FFF2-40B4-BE49-F238E27FC236}">
                <a16:creationId xmlns:a16="http://schemas.microsoft.com/office/drawing/2014/main" id="{C80C9CA3-2287-43D7-BEFB-53C644384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86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4E"/>
                </a:solidFill>
                <a:latin typeface="Arial"/>
                <a:ea typeface="Arial"/>
                <a:cs typeface="Arial"/>
              </a:rPr>
              <a:t>Issue a receipt</a:t>
            </a:r>
          </a:p>
        </p:txBody>
      </p:sp>
      <p:sp>
        <p:nvSpPr>
          <p:cNvPr id="6" name="s3-step-body-0">
            <a:extLst xmlns:a="http://schemas.openxmlformats.org/drawingml/2006/main">
              <a:ext uri="{FF2B5EF4-FFF2-40B4-BE49-F238E27FC236}">
                <a16:creationId xmlns:a16="http://schemas.microsoft.com/office/drawing/2014/main" id="{4AC13EF3-4412-43D2-BDA6-3179443D7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81425"/>
            <a:ext cx="3095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A99"/>
                </a:solidFill>
                <a:latin typeface="Arial"/>
                <a:ea typeface="Arial"/>
                <a:cs typeface="Arial"/>
              </a:rPr>
              <a:t>A coordinator confirms the off-chain payment and commits the amount with a random salt.</a:t>
            </a:r>
          </a:p>
        </p:txBody>
      </p:sp>
      <p:sp>
        <p:nvSpPr>
          <p:cNvPr id="7" name="s3-number-1">
            <a:extLst xmlns:a="http://schemas.openxmlformats.org/drawingml/2006/main">
              <a:ext uri="{FF2B5EF4-FFF2-40B4-BE49-F238E27FC236}">
                <a16:creationId xmlns:a16="http://schemas.microsoft.com/office/drawing/2014/main" id="{AEC20EC5-5840-45F2-9DE6-15E68AB4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3241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765F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8" name="s3-step-rule-1">
            <a:extLst xmlns:a="http://schemas.openxmlformats.org/drawingml/2006/main">
              <a:ext uri="{FF2B5EF4-FFF2-40B4-BE49-F238E27FC236}">
                <a16:creationId xmlns:a16="http://schemas.microsoft.com/office/drawing/2014/main" id="{E8D1C736-BD1D-44CE-B629-779393560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990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s3-step-title-1">
            <a:extLst xmlns:a="http://schemas.openxmlformats.org/drawingml/2006/main">
              <a:ext uri="{FF2B5EF4-FFF2-40B4-BE49-F238E27FC236}">
                <a16:creationId xmlns:a16="http://schemas.microsoft.com/office/drawing/2014/main" id="{677C54FC-778B-4AAB-98B0-670C08A4E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286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4E"/>
                </a:solidFill>
                <a:latin typeface="Arial"/>
                <a:ea typeface="Arial"/>
                <a:cs typeface="Arial"/>
              </a:rPr>
              <a:t>Prove the rule</a:t>
            </a:r>
          </a:p>
        </p:txBody>
      </p:sp>
      <p:sp>
        <p:nvSpPr>
          <p:cNvPr id="10" name="s3-step-body-1">
            <a:extLst xmlns:a="http://schemas.openxmlformats.org/drawingml/2006/main">
              <a:ext uri="{FF2B5EF4-FFF2-40B4-BE49-F238E27FC236}">
                <a16:creationId xmlns:a16="http://schemas.microsoft.com/office/drawing/2014/main" id="{EB6EC20D-A061-4027-A7B9-3E520A104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781425"/>
            <a:ext cx="3095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A99"/>
                </a:solidFill>
                <a:latin typeface="Arial"/>
                <a:ea typeface="Arial"/>
                <a:cs typeface="Arial"/>
              </a:rPr>
              <a:t>The member supplies the hidden amount and salt to the Compact circuit. The circuit checks the receipt and minimum.</a:t>
            </a:r>
          </a:p>
        </p:txBody>
      </p:sp>
      <p:sp>
        <p:nvSpPr>
          <p:cNvPr id="11" name="s3-number-2">
            <a:extLst xmlns:a="http://schemas.openxmlformats.org/drawingml/2006/main">
              <a:ext uri="{FF2B5EF4-FFF2-40B4-BE49-F238E27FC236}">
                <a16:creationId xmlns:a16="http://schemas.microsoft.com/office/drawing/2014/main" id="{00904873-3FC2-4899-B627-33D0DFD7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24100"/>
            <a:ext cx="66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defPPr>
            <a:lvl1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1pPr>
            <a:lvl2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2pPr>
            <a:lvl3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3pPr>
            <a:lvl4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4pPr>
            <a:lvl5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5pPr>
            <a:lvl6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6pPr>
            <a:lvl7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7pPr>
            <a:lvl8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8pPr>
            <a:lvl9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B5BF5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s3-step-rule-2">
            <a:extLst xmlns:a="http://schemas.openxmlformats.org/drawingml/2006/main">
              <a:ext uri="{FF2B5EF4-FFF2-40B4-BE49-F238E27FC236}">
                <a16:creationId xmlns:a16="http://schemas.microsoft.com/office/drawing/2014/main" id="{CAC2A2B0-0E5D-4FFA-8E40-F31D8A38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90850"/>
            <a:ext cx="31051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s3-step-title-2">
            <a:extLst xmlns:a="http://schemas.openxmlformats.org/drawingml/2006/main">
              <a:ext uri="{FF2B5EF4-FFF2-40B4-BE49-F238E27FC236}">
                <a16:creationId xmlns:a16="http://schemas.microsoft.com/office/drawing/2014/main" id="{AB73FEC9-A3BB-4E98-A348-A8D06561D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286125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defPPr>
            <a:lvl1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1pPr>
            <a:lvl2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2pPr>
            <a:lvl3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3pPr>
            <a:lvl4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4pPr>
            <a:lvl5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5pPr>
            <a:lvl6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6pPr>
            <a:lvl7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7pPr>
            <a:lvl8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8pPr>
            <a:lvl9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95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0184E"/>
                </a:solidFill>
                <a:latin typeface="Arial"/>
                <a:ea typeface="Arial"/>
                <a:cs typeface="Arial"/>
              </a:rPr>
              <a:t>Prevent a repeat</a:t>
            </a:r>
          </a:p>
        </p:txBody>
      </p:sp>
      <p:sp>
        <p:nvSpPr>
          <p:cNvPr id="14" name="s3-step-body-2">
            <a:extLst xmlns:a="http://schemas.openxmlformats.org/drawingml/2006/main">
              <a:ext uri="{FF2B5EF4-FFF2-40B4-BE49-F238E27FC236}">
                <a16:creationId xmlns:a16="http://schemas.microsoft.com/office/drawing/2014/main" id="{493D608F-FDF8-4DB0-83A0-EDF9CCB05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81425"/>
            <a:ext cx="3095625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737A99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737A99"/>
                </a:solidFill>
                <a:latin typeface="Arial"/>
                <a:ea typeface="Arial"/>
                <a:cs typeface="Arial"/>
              </a:rPr>
              <a:t>The contract records one claim under a circle-specific tag. The amount stays private.</a:t>
            </a:r>
          </a:p>
        </p:txBody>
      </p:sp>
      <p:sp>
        <p:nvSpPr>
          <p:cNvPr id="15" name="s3-status-strip">
            <a:extLst xmlns:a="http://schemas.openxmlformats.org/drawingml/2006/main">
              <a:ext uri="{FF2B5EF4-FFF2-40B4-BE49-F238E27FC236}">
                <a16:creationId xmlns:a16="http://schemas.microsoft.com/office/drawing/2014/main" id="{FAED643F-74E0-49C7-99E9-42F98A9B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381625"/>
            <a:ext cx="103822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s3-status">
            <a:extLst xmlns:a="http://schemas.openxmlformats.org/drawingml/2006/main">
              <a:ext uri="{FF2B5EF4-FFF2-40B4-BE49-F238E27FC236}">
                <a16:creationId xmlns:a16="http://schemas.microsoft.com/office/drawing/2014/main" id="{16C98455-49DB-435F-B0D0-98777438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553075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10184E"/>
                </a:solidFill>
                <a:latin typeface="Arial"/>
                <a:ea typeface="Arial"/>
                <a:cs typeface="Arial"/>
              </a:rPr>
              <a:t>NOW  ·  Compiled circuits in browser</a:t>
            </a:r>
          </a:p>
        </p:txBody>
      </p:sp>
      <p:sp>
        <p:nvSpPr>
          <p:cNvPr id="17" name="s3-next">
            <a:extLst xmlns:a="http://schemas.openxmlformats.org/drawingml/2006/main">
              <a:ext uri="{FF2B5EF4-FFF2-40B4-BE49-F238E27FC236}">
                <a16:creationId xmlns:a16="http://schemas.microsoft.com/office/drawing/2014/main" id="{1403DFA9-4944-4870-AE74-DFA7A4760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553075"/>
            <a:ext cx="581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59628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59628E"/>
                </a:solidFill>
                <a:latin typeface="Arial"/>
                <a:ea typeface="Arial"/>
                <a:cs typeface="Arial"/>
              </a:rPr>
              <a:t>NEXT  ·  Midnight.js, Lace, proof server, Preprod</a:t>
            </a:r>
          </a:p>
        </p:txBody>
      </p:sp>
    </p:spTree>
    <p:extLst>
      <p:ext uri="{BB962C8B-B14F-4D97-AF65-F5344CB8AC3E}">
        <p14:creationId xmlns:p14="http://schemas.microsoft.com/office/powerpoint/2010/main" val="1379103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4-kicker">
            <a:extLst xmlns:a="http://schemas.openxmlformats.org/drawingml/2006/main">
              <a:ext uri="{FF2B5EF4-FFF2-40B4-BE49-F238E27FC236}">
                <a16:creationId xmlns:a16="http://schemas.microsoft.com/office/drawing/2014/main" id="{673A648D-AF01-461D-96BE-6B20486CF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3B5BF5"/>
                </a:solidFill>
                <a:latin typeface="Arial"/>
                <a:ea typeface="Arial"/>
                <a:cs typeface="Arial"/>
              </a:rPr>
              <a:t>THE DATA BOUNDARY</a:t>
            </a:r>
          </a:p>
        </p:txBody>
      </p:sp>
      <p:sp>
        <p:nvSpPr>
          <p:cNvPr id="2" name="s4-title">
            <a:extLst xmlns:a="http://schemas.openxmlformats.org/drawingml/2006/main">
              <a:ext uri="{FF2B5EF4-FFF2-40B4-BE49-F238E27FC236}">
                <a16:creationId xmlns:a16="http://schemas.microsoft.com/office/drawing/2014/main" id="{17412846-70CA-4F2F-9EDA-92A09A322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defPPr>
            <a:lvl1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1pPr>
            <a:lvl2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2pPr>
            <a:lvl3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3pPr>
            <a:lvl4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4pPr>
            <a:lvl5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5pPr>
            <a:lvl6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6pPr>
            <a:lvl7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7pPr>
            <a:lvl8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8pPr>
            <a:lvl9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300" b="1">
                <a:solidFill>
                  <a:srgbClr val="10184E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0184E"/>
                </a:solidFill>
                <a:latin typeface="Arial"/>
                <a:ea typeface="Arial"/>
                <a:cs typeface="Arial"/>
              </a:rPr>
              <a:t>The ledger learns just enough</a:t>
            </a:r>
          </a:p>
        </p:txBody>
      </p:sp>
      <p:sp>
        <p:nvSpPr>
          <p:cNvPr id="3" name="s4-private-head">
            <a:extLst xmlns:a="http://schemas.openxmlformats.org/drawingml/2006/main">
              <a:ext uri="{FF2B5EF4-FFF2-40B4-BE49-F238E27FC236}">
                <a16:creationId xmlns:a16="http://schemas.microsoft.com/office/drawing/2014/main" id="{8B54AF21-D882-4BD9-B076-C44AC8B0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955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3B5BF5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B5BF5"/>
                </a:solidFill>
                <a:latin typeface="Arial"/>
                <a:ea typeface="Arial"/>
                <a:cs typeface="Arial"/>
              </a:rPr>
              <a:t>PRIVATE ON THE MEMBER’S DEVICE</a:t>
            </a:r>
          </a:p>
        </p:txBody>
      </p:sp>
      <p:sp>
        <p:nvSpPr>
          <p:cNvPr id="4" name="s4-public-head">
            <a:extLst xmlns:a="http://schemas.openxmlformats.org/drawingml/2006/main">
              <a:ext uri="{FF2B5EF4-FFF2-40B4-BE49-F238E27FC236}">
                <a16:creationId xmlns:a16="http://schemas.microsoft.com/office/drawing/2014/main" id="{57B95E42-5F84-41E1-8BAD-DD1ED1846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095500"/>
            <a:ext cx="485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defPPr>
            <a:lvl1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1pPr>
            <a:lvl2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2pPr>
            <a:lvl3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3pPr>
            <a:lvl4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4pPr>
            <a:lvl5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5pPr>
            <a:lvl6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6pPr>
            <a:lvl7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7pPr>
            <a:lvl8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8pPr>
            <a:lvl9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125" b="1">
                <a:solidFill>
                  <a:srgbClr val="FF765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765F"/>
                </a:solidFill>
                <a:latin typeface="Arial"/>
                <a:ea typeface="Arial"/>
                <a:cs typeface="Arial"/>
              </a:rPr>
              <a:t>PUBLIC ON THE LEDGER</a:t>
            </a:r>
          </a:p>
        </p:txBody>
      </p:sp>
      <p:sp>
        <p:nvSpPr>
          <p:cNvPr id="5" name="s4-private-head-rule">
            <a:extLst xmlns:a="http://schemas.openxmlformats.org/drawingml/2006/main">
              <a:ext uri="{FF2B5EF4-FFF2-40B4-BE49-F238E27FC236}">
                <a16:creationId xmlns:a16="http://schemas.microsoft.com/office/drawing/2014/main" id="{4BD907E8-5472-4417-B5BC-0E0194D67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4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4-public-head-rule">
            <a:extLst xmlns:a="http://schemas.openxmlformats.org/drawingml/2006/main">
              <a:ext uri="{FF2B5EF4-FFF2-40B4-BE49-F238E27FC236}">
                <a16:creationId xmlns:a16="http://schemas.microsoft.com/office/drawing/2014/main" id="{7D60128D-03CE-4FCE-A527-506443245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5336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2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4-left-0">
            <a:extLst xmlns:a="http://schemas.openxmlformats.org/drawingml/2006/main">
              <a:ext uri="{FF2B5EF4-FFF2-40B4-BE49-F238E27FC236}">
                <a16:creationId xmlns:a16="http://schemas.microsoft.com/office/drawing/2014/main" id="{D2A8795D-1EA3-43C3-A351-801E0A00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5750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E2448"/>
                </a:solidFill>
                <a:latin typeface="Arial"/>
                <a:ea typeface="Arial"/>
                <a:cs typeface="Arial"/>
              </a:rPr>
              <a:t>Member secret</a:t>
            </a:r>
          </a:p>
        </p:txBody>
      </p:sp>
      <p:sp>
        <p:nvSpPr>
          <p:cNvPr id="8" name="s4-right-0">
            <a:extLst xmlns:a="http://schemas.openxmlformats.org/drawingml/2006/main">
              <a:ext uri="{FF2B5EF4-FFF2-40B4-BE49-F238E27FC236}">
                <a16:creationId xmlns:a16="http://schemas.microsoft.com/office/drawing/2014/main" id="{D9E43EA3-73CB-426D-898E-D00B2120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85750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E2448"/>
                </a:solidFill>
                <a:latin typeface="Arial"/>
                <a:ea typeface="Arial"/>
                <a:cs typeface="Arial"/>
              </a:rPr>
              <a:t>Minimum contribution rule</a:t>
            </a:r>
          </a:p>
        </p:txBody>
      </p:sp>
      <p:sp>
        <p:nvSpPr>
          <p:cNvPr id="9" name="s4-left-rule-0">
            <a:extLst xmlns:a="http://schemas.openxmlformats.org/drawingml/2006/main">
              <a:ext uri="{FF2B5EF4-FFF2-40B4-BE49-F238E27FC236}">
                <a16:creationId xmlns:a16="http://schemas.microsoft.com/office/drawing/2014/main" id="{378D3F9F-6ED3-4BD4-9F95-E075E9DC3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575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4-right-rule-0">
            <a:extLst xmlns:a="http://schemas.openxmlformats.org/drawingml/2006/main">
              <a:ext uri="{FF2B5EF4-FFF2-40B4-BE49-F238E27FC236}">
                <a16:creationId xmlns:a16="http://schemas.microsoft.com/office/drawing/2014/main" id="{77702803-D400-49E1-8F3B-976B9211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25755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4-left-1">
            <a:extLst xmlns:a="http://schemas.openxmlformats.org/drawingml/2006/main">
              <a:ext uri="{FF2B5EF4-FFF2-40B4-BE49-F238E27FC236}">
                <a16:creationId xmlns:a16="http://schemas.microsoft.com/office/drawing/2014/main" id="{EE18F4E5-3B35-4F40-A53E-69B55D9A2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042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E2448"/>
                </a:solidFill>
                <a:latin typeface="Arial"/>
                <a:ea typeface="Arial"/>
                <a:cs typeface="Arial"/>
              </a:rPr>
              <a:t>Contribution amount</a:t>
            </a:r>
          </a:p>
        </p:txBody>
      </p:sp>
      <p:sp>
        <p:nvSpPr>
          <p:cNvPr id="12" name="s4-right-1">
            <a:extLst xmlns:a="http://schemas.openxmlformats.org/drawingml/2006/main">
              <a:ext uri="{FF2B5EF4-FFF2-40B4-BE49-F238E27FC236}">
                <a16:creationId xmlns:a16="http://schemas.microsoft.com/office/drawing/2014/main" id="{1CAA7EC5-C783-46E9-B72A-4D1A8E686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40042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E2448"/>
                </a:solidFill>
                <a:latin typeface="Arial"/>
                <a:ea typeface="Arial"/>
                <a:cs typeface="Arial"/>
              </a:rPr>
              <a:t>Circle-specific blinded tag</a:t>
            </a:r>
          </a:p>
        </p:txBody>
      </p:sp>
      <p:sp>
        <p:nvSpPr>
          <p:cNvPr id="13" name="s4-left-rule-1">
            <a:extLst xmlns:a="http://schemas.openxmlformats.org/drawingml/2006/main">
              <a:ext uri="{FF2B5EF4-FFF2-40B4-BE49-F238E27FC236}">
                <a16:creationId xmlns:a16="http://schemas.microsoft.com/office/drawing/2014/main" id="{3E5CEB92-27ED-4ABD-AF2E-4E408198D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00475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4-right-rule-1">
            <a:extLst xmlns:a="http://schemas.openxmlformats.org/drawingml/2006/main">
              <a:ext uri="{FF2B5EF4-FFF2-40B4-BE49-F238E27FC236}">
                <a16:creationId xmlns:a16="http://schemas.microsoft.com/office/drawing/2014/main" id="{DC5F61DA-7A74-426C-A2BF-CCF3A97E7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800475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4-left-2">
            <a:extLst xmlns:a="http://schemas.openxmlformats.org/drawingml/2006/main">
              <a:ext uri="{FF2B5EF4-FFF2-40B4-BE49-F238E27FC236}">
                <a16:creationId xmlns:a16="http://schemas.microsoft.com/office/drawing/2014/main" id="{9E30D7D5-8C2D-43F3-8F92-BFC28FA27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433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E2448"/>
                </a:solidFill>
                <a:latin typeface="Arial"/>
                <a:ea typeface="Arial"/>
                <a:cs typeface="Arial"/>
              </a:rPr>
              <a:t>Receipt salt</a:t>
            </a:r>
          </a:p>
        </p:txBody>
      </p:sp>
      <p:sp>
        <p:nvSpPr>
          <p:cNvPr id="16" name="s4-right-2">
            <a:extLst xmlns:a="http://schemas.openxmlformats.org/drawingml/2006/main">
              <a:ext uri="{FF2B5EF4-FFF2-40B4-BE49-F238E27FC236}">
                <a16:creationId xmlns:a16="http://schemas.microsoft.com/office/drawing/2014/main" id="{FD7E03B0-8238-4198-A0B3-0F5C30E4D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43350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E2448"/>
                </a:solidFill>
                <a:latin typeface="Arial"/>
                <a:ea typeface="Arial"/>
                <a:cs typeface="Arial"/>
              </a:rPr>
              <a:t>Salted receipt commitment</a:t>
            </a:r>
          </a:p>
        </p:txBody>
      </p:sp>
      <p:sp>
        <p:nvSpPr>
          <p:cNvPr id="17" name="s4-left-rule-2">
            <a:extLst xmlns:a="http://schemas.openxmlformats.org/drawingml/2006/main">
              <a:ext uri="{FF2B5EF4-FFF2-40B4-BE49-F238E27FC236}">
                <a16:creationId xmlns:a16="http://schemas.microsoft.com/office/drawing/2014/main" id="{E2525C77-EB73-4C2D-B30F-A60AB06D2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434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4-right-rule-2">
            <a:extLst xmlns:a="http://schemas.openxmlformats.org/drawingml/2006/main">
              <a:ext uri="{FF2B5EF4-FFF2-40B4-BE49-F238E27FC236}">
                <a16:creationId xmlns:a16="http://schemas.microsoft.com/office/drawing/2014/main" id="{EC6E6BDA-483F-4A77-BACC-779056BF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43400"/>
            <a:ext cx="4762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s4-left-3">
            <a:extLst xmlns:a="http://schemas.openxmlformats.org/drawingml/2006/main">
              <a:ext uri="{FF2B5EF4-FFF2-40B4-BE49-F238E27FC236}">
                <a16:creationId xmlns:a16="http://schemas.microsoft.com/office/drawing/2014/main" id="{EF5D557F-329E-4E4D-BAAF-69E4E78D9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8627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E2448"/>
                </a:solidFill>
                <a:latin typeface="Arial"/>
                <a:ea typeface="Arial"/>
                <a:cs typeface="Arial"/>
              </a:rPr>
              <a:t>Coordinator issuer secret</a:t>
            </a:r>
          </a:p>
        </p:txBody>
      </p:sp>
      <p:sp>
        <p:nvSpPr>
          <p:cNvPr id="20" name="s4-right-3">
            <a:extLst xmlns:a="http://schemas.openxmlformats.org/drawingml/2006/main">
              <a:ext uri="{FF2B5EF4-FFF2-40B4-BE49-F238E27FC236}">
                <a16:creationId xmlns:a16="http://schemas.microsoft.com/office/drawing/2014/main" id="{2CF33629-3E17-4196-A297-F8953CB4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486275"/>
            <a:ext cx="4572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defPPr>
            <a:lvl1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1pPr>
            <a:lvl2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2pPr>
            <a:lvl3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3pPr>
            <a:lvl4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4pPr>
            <a:lvl5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5pPr>
            <a:lvl6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6pPr>
            <a:lvl7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7pPr>
            <a:lvl8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8pPr>
            <a:lvl9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448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E2448"/>
                </a:solidFill>
                <a:latin typeface="Arial"/>
                <a:ea typeface="Arial"/>
                <a:cs typeface="Arial"/>
              </a:rPr>
              <a:t>Claim marker for that tag</a:t>
            </a:r>
          </a:p>
        </p:txBody>
      </p:sp>
      <p:sp>
        <p:nvSpPr>
          <p:cNvPr id="21" name="s4-caveat">
            <a:extLst xmlns:a="http://schemas.openxmlformats.org/drawingml/2006/main">
              <a:ext uri="{FF2B5EF4-FFF2-40B4-BE49-F238E27FC236}">
                <a16:creationId xmlns:a16="http://schemas.microsoft.com/office/drawing/2014/main" id="{E7C51640-140E-44E3-98B7-401CC305F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257800"/>
            <a:ext cx="10382250" cy="657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184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4-caveat-title">
            <a:extLst xmlns:a="http://schemas.openxmlformats.org/drawingml/2006/main">
              <a:ext uri="{FF2B5EF4-FFF2-40B4-BE49-F238E27FC236}">
                <a16:creationId xmlns:a16="http://schemas.microsoft.com/office/drawing/2014/main" id="{16043531-308F-4C88-B2FE-474DC83B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5410200"/>
            <a:ext cx="3619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tag prevents a second claim.</a:t>
            </a:r>
          </a:p>
        </p:txBody>
      </p:sp>
      <p:sp>
        <p:nvSpPr>
          <p:cNvPr id="23" name="s4-caveat-body">
            <a:extLst xmlns:a="http://schemas.openxmlformats.org/drawingml/2006/main">
              <a:ext uri="{FF2B5EF4-FFF2-40B4-BE49-F238E27FC236}">
                <a16:creationId xmlns:a16="http://schemas.microsoft.com/office/drawing/2014/main" id="{5EA574B1-4F20-4BB7-A797-93B32237F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542925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defPPr>
            <a:lvl1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1pPr>
            <a:lvl2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2pPr>
            <a:lvl3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3pPr>
            <a:lvl4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4pPr>
            <a:lvl5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5pPr>
            <a:lvl6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6pPr>
            <a:lvl7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7pPr>
            <a:lvl8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8pPr>
            <a:lvl9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350" b="0">
                <a:solidFill>
                  <a:srgbClr val="C8CDE9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C8CDE9"/>
                </a:solidFill>
                <a:latin typeface="Arial"/>
                <a:ea typeface="Arial"/>
                <a:cs typeface="Arial"/>
              </a:rPr>
              <a:t>It stays linkable inside one circle. The prototype makes that privacy limit explicit.</a:t>
            </a:r>
          </a:p>
        </p:txBody>
      </p:sp>
    </p:spTree>
    <p:extLst>
      <p:ext uri="{BB962C8B-B14F-4D97-AF65-F5344CB8AC3E}">
        <p14:creationId xmlns:p14="http://schemas.microsoft.com/office/powerpoint/2010/main" val="49604252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184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5-kicker">
            <a:extLst xmlns:a="http://schemas.openxmlformats.org/drawingml/2006/main">
              <a:ext uri="{FF2B5EF4-FFF2-40B4-BE49-F238E27FC236}">
                <a16:creationId xmlns:a16="http://schemas.microsoft.com/office/drawing/2014/main" id="{F6B428A6-C540-4C09-9782-107FB34FC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476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AAB4FF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AB4FF"/>
                </a:solidFill>
                <a:latin typeface="Arial"/>
                <a:ea typeface="Arial"/>
                <a:cs typeface="Arial"/>
              </a:rPr>
              <a:t>ADOPTION PATH</a:t>
            </a:r>
          </a:p>
        </p:txBody>
      </p:sp>
      <p:sp>
        <p:nvSpPr>
          <p:cNvPr id="2" name="s5-title">
            <a:extLst xmlns:a="http://schemas.openxmlformats.org/drawingml/2006/main">
              <a:ext uri="{FF2B5EF4-FFF2-40B4-BE49-F238E27FC236}">
                <a16:creationId xmlns:a16="http://schemas.microsoft.com/office/drawing/2014/main" id="{610012FA-96A4-421C-9103-584A487E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90600"/>
            <a:ext cx="1038225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32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Start with circles that already have a coordinator</a:t>
            </a:r>
          </a:p>
        </p:txBody>
      </p:sp>
      <p:sp>
        <p:nvSpPr>
          <p:cNvPr id="3" name="s5-market-label">
            <a:extLst xmlns:a="http://schemas.openxmlformats.org/drawingml/2006/main">
              <a:ext uri="{FF2B5EF4-FFF2-40B4-BE49-F238E27FC236}">
                <a16:creationId xmlns:a16="http://schemas.microsoft.com/office/drawing/2014/main" id="{73B8AE91-32F2-4910-B818-32CBDF34B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5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AB4E4"/>
                </a:solidFill>
                <a:latin typeface="Arial"/>
                <a:ea typeface="Arial"/>
                <a:cs typeface="Arial"/>
              </a:rPr>
              <a:t>FIRST USERS</a:t>
            </a:r>
          </a:p>
        </p:txBody>
      </p:sp>
      <p:sp>
        <p:nvSpPr>
          <p:cNvPr id="4" name="s5-market">
            <a:extLst xmlns:a="http://schemas.openxmlformats.org/drawingml/2006/main">
              <a:ext uri="{FF2B5EF4-FFF2-40B4-BE49-F238E27FC236}">
                <a16:creationId xmlns:a16="http://schemas.microsoft.com/office/drawing/2014/main" id="{B8825DA0-FF61-45D9-A7E2-C135AC2F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14650"/>
            <a:ext cx="4191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Workplace and trade association savings groups that already keep a contribution record.</a:t>
            </a:r>
          </a:p>
        </p:txBody>
      </p:sp>
      <p:sp>
        <p:nvSpPr>
          <p:cNvPr id="5" name="s5-divider">
            <a:extLst xmlns:a="http://schemas.openxmlformats.org/drawingml/2006/main">
              <a:ext uri="{FF2B5EF4-FFF2-40B4-BE49-F238E27FC236}">
                <a16:creationId xmlns:a16="http://schemas.microsoft.com/office/drawing/2014/main" id="{FA25CC64-F80C-4AB8-9106-F1FE3434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476500"/>
            <a:ext cx="1905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4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s5-wedge-label">
            <a:extLst xmlns:a="http://schemas.openxmlformats.org/drawingml/2006/main">
              <a:ext uri="{FF2B5EF4-FFF2-40B4-BE49-F238E27FC236}">
                <a16:creationId xmlns:a16="http://schemas.microsoft.com/office/drawing/2014/main" id="{BBC36F9C-6B06-41D8-84C7-5000041E0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5527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AAB4E4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AAB4E4"/>
                </a:solidFill>
                <a:latin typeface="Arial"/>
                <a:ea typeface="Arial"/>
                <a:cs typeface="Arial"/>
              </a:rPr>
              <a:t>FIRST WEDGE</a:t>
            </a:r>
          </a:p>
        </p:txBody>
      </p:sp>
      <p:sp>
        <p:nvSpPr>
          <p:cNvPr id="7" name="s5-wedge">
            <a:extLst xmlns:a="http://schemas.openxmlformats.org/drawingml/2006/main">
              <a:ext uri="{FF2B5EF4-FFF2-40B4-BE49-F238E27FC236}">
                <a16:creationId xmlns:a16="http://schemas.microsoft.com/office/drawing/2014/main" id="{B60E2487-0803-4798-992D-E36376AF4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914650"/>
            <a:ext cx="4572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Eligibility checks before a payout, without taking custody of the group’s money.</a:t>
            </a:r>
          </a:p>
        </p:txBody>
      </p:sp>
      <p:sp>
        <p:nvSpPr>
          <p:cNvPr id="8" name="s5-roadmap-label">
            <a:extLst xmlns:a="http://schemas.openxmlformats.org/drawingml/2006/main">
              <a:ext uri="{FF2B5EF4-FFF2-40B4-BE49-F238E27FC236}">
                <a16:creationId xmlns:a16="http://schemas.microsoft.com/office/drawing/2014/main" id="{20EB3C21-76A5-499A-8300-66D43EE2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672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FAA9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AA96"/>
                </a:solidFill>
                <a:latin typeface="Arial"/>
                <a:ea typeface="Arial"/>
                <a:cs typeface="Arial"/>
              </a:rPr>
              <a:t>NEXT MILESTONE</a:t>
            </a:r>
          </a:p>
        </p:txBody>
      </p:sp>
      <p:sp>
        <p:nvSpPr>
          <p:cNvPr id="9" name="s5-roadmap">
            <a:extLst xmlns:a="http://schemas.openxmlformats.org/drawingml/2006/main">
              <a:ext uri="{FF2B5EF4-FFF2-40B4-BE49-F238E27FC236}">
                <a16:creationId xmlns:a16="http://schemas.microsoft.com/office/drawing/2014/main" id="{39BA3F5B-C637-4E8A-99D1-B3BB763D3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29150"/>
            <a:ext cx="9620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defPPr>
            <a:lvl1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1pPr>
            <a:lvl2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2pPr>
            <a:lvl3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3pPr>
            <a:lvl4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4pPr>
            <a:lvl5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5pPr>
            <a:lvl6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6pPr>
            <a:lvl7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7pPr>
            <a:lvl8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8pPr>
            <a:lvl9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D3D8F2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D3D8F2"/>
                </a:solidFill>
                <a:latin typeface="Arial"/>
                <a:ea typeface="Arial"/>
                <a:cs typeface="Arial"/>
              </a:rPr>
              <a:t>Connect Midnight.js and Lace, run the circuits against the local proof server, then test with a small pilot circle.</a:t>
            </a:r>
          </a:p>
        </p:txBody>
      </p:sp>
      <p:sp>
        <p:nvSpPr>
          <p:cNvPr id="10" name="s5-footer-rule">
            <a:extLst xmlns:a="http://schemas.openxmlformats.org/drawingml/2006/main">
              <a:ext uri="{FF2B5EF4-FFF2-40B4-BE49-F238E27FC236}">
                <a16:creationId xmlns:a16="http://schemas.microsoft.com/office/drawing/2014/main" id="{DF3D78E8-1F0D-4438-B232-2A55EDAE8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715000"/>
            <a:ext cx="1038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427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s5-status">
            <a:extLst xmlns:a="http://schemas.openxmlformats.org/drawingml/2006/main">
              <a:ext uri="{FF2B5EF4-FFF2-40B4-BE49-F238E27FC236}">
                <a16:creationId xmlns:a16="http://schemas.microsoft.com/office/drawing/2014/main" id="{17E2A9AF-A574-40BF-AF55-AB07E4328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943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defPPr>
            <a:lvl1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1pPr>
            <a:lvl2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2pPr>
            <a:lvl3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3pPr>
            <a:lvl4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4pPr>
            <a:lvl5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5pPr>
            <a:lvl6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6pPr>
            <a:lvl7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7pPr>
            <a:lvl8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8pPr>
            <a:lvl9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l">
              <a:defRPr sz="1050" b="1">
                <a:solidFill>
                  <a:srgbClr val="FFB5A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FB5A5"/>
                </a:solidFill>
                <a:latin typeface="Arial"/>
                <a:ea typeface="Arial"/>
                <a:cs typeface="Arial"/>
              </a:rPr>
              <a:t>PROTOTYPE  ·  No wallet connection, deployed contract, or live proof claimed</a:t>
            </a:r>
          </a:p>
        </p:txBody>
      </p:sp>
      <p:sp>
        <p:nvSpPr>
          <p:cNvPr id="12" name="s5-page">
            <a:extLst xmlns:a="http://schemas.openxmlformats.org/drawingml/2006/main">
              <a:ext uri="{FF2B5EF4-FFF2-40B4-BE49-F238E27FC236}">
                <a16:creationId xmlns:a16="http://schemas.microsoft.com/office/drawing/2014/main" id="{3963CE31-4164-4440-8DE9-3F17B4A5F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59436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defPPr>
            <a:lvl1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1pPr>
            <a:lvl2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2pPr>
            <a:lvl3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3pPr>
            <a:lvl4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4pPr>
            <a:lvl5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5pPr>
            <a:lvl6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6pPr>
            <a:lvl7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7pPr>
            <a:lvl8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8pPr>
            <a:lvl9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algn="r">
              <a:defRPr sz="975" b="0">
                <a:solidFill>
                  <a:srgbClr val="AAB2E2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AAB2E2"/>
                </a:solidFill>
                <a:latin typeface="Arial"/>
                <a:ea typeface="Arial"/>
                <a:cs typeface="Arial"/>
              </a:rPr>
              <a:t>05 / 05</a:t>
            </a:r>
          </a:p>
        </p:txBody>
      </p:sp>
    </p:spTree>
    <p:extLst>
      <p:ext uri="{BB962C8B-B14F-4D97-AF65-F5344CB8AC3E}">
        <p14:creationId xmlns:p14="http://schemas.microsoft.com/office/powerpoint/2010/main" val="213482414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2026-10-19T14:12:42.1320000Z</dcterms:created>
  <dcterms:modified xsi:type="dcterms:W3CDTF">2026-10-19T14:12:42.1320000Z</dcterms:modified>
</coreProperties>
</file>