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3d8b6db93143a4" /><Relationship Type="http://schemas.openxmlformats.org/officeDocument/2006/relationships/extended-properties" Target="/docProps/app.xml" Id="R0064311c7fe74b17" /><Relationship Type="http://schemas.openxmlformats.org/officeDocument/2006/relationships/officeDocument" Target="/ppt/presentation.xml" Id="R3791b875c4b343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0a78917f734d27"/>
  </p:sldMasterIdLst>
  <p:notesMasterIdLst>
    <p:notesMasterId xmlns:r="http://schemas.openxmlformats.org/officeDocument/2006/relationships" r:id="Rd0311479c3514e80"/>
  </p:notesMasterIdLst>
  <p:sldIdLst>
    <p:sldId xmlns:r="http://schemas.openxmlformats.org/officeDocument/2006/relationships" id="256" r:id="R08349dedafbc4ac2"/>
    <p:sldId xmlns:r="http://schemas.openxmlformats.org/officeDocument/2006/relationships" id="257" r:id="Rba60a6afb8a64d83"/>
    <p:sldId xmlns:r="http://schemas.openxmlformats.org/officeDocument/2006/relationships" id="258" r:id="Re981cc9792aa435b"/>
    <p:sldId xmlns:r="http://schemas.openxmlformats.org/officeDocument/2006/relationships" id="259" r:id="R2723f675f0704e2d"/>
    <p:sldId xmlns:r="http://schemas.openxmlformats.org/officeDocument/2006/relationships" id="260" r:id="R9de3eefa342549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ab32b0ea404270" /><Relationship Type="http://schemas.openxmlformats.org/officeDocument/2006/relationships/slideMaster" Target="/ppt/slideMasters/slideMaster1.xml" Id="Rc60a78917f734d27" /><Relationship Type="http://schemas.openxmlformats.org/officeDocument/2006/relationships/notesMaster" Target="/ppt/notesMasters/notesMaster1.xml" Id="Rd0311479c3514e80" /><Relationship Type="http://schemas.openxmlformats.org/officeDocument/2006/relationships/presProps" Target="/ppt/presProps.xml" Id="R66f8ac882ac44a35" /><Relationship Type="http://schemas.openxmlformats.org/officeDocument/2006/relationships/tableStyles" Target="/ppt/tableStyles.xml" Id="Rdb8cbd7d23864a0e" /><Relationship Type="http://schemas.openxmlformats.org/officeDocument/2006/relationships/slide" Target="/ppt/slides/slide1.xml" Id="R08349dedafbc4ac2" /><Relationship Type="http://schemas.openxmlformats.org/officeDocument/2006/relationships/slide" Target="/ppt/slides/slide2.xml" Id="Rba60a6afb8a64d83" /><Relationship Type="http://schemas.openxmlformats.org/officeDocument/2006/relationships/slide" Target="/ppt/slides/slide3.xml" Id="Re981cc9792aa435b" /><Relationship Type="http://schemas.openxmlformats.org/officeDocument/2006/relationships/slide" Target="/ppt/slides/slide4.xml" Id="R2723f675f0704e2d" /><Relationship Type="http://schemas.openxmlformats.org/officeDocument/2006/relationships/slide" Target="/ppt/slides/slide5.xml" Id="R9de3eefa3425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025321229b47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5d489ef297457d" /><Relationship Type="http://schemas.openxmlformats.org/officeDocument/2006/relationships/notesMaster" Target="/ppt/notesMasters/notesMaster1.xml" Id="R0c377f5a4f2746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995ff858ce4f6a" /><Relationship Type="http://schemas.openxmlformats.org/officeDocument/2006/relationships/notesMaster" Target="/ppt/notesMasters/notesMaster1.xml" Id="Rf689984813bb4e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bf05d4d4014267" /><Relationship Type="http://schemas.openxmlformats.org/officeDocument/2006/relationships/notesMaster" Target="/ppt/notesMasters/notesMaster1.xml" Id="R636140ba3f104d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7d1100e3d245f0" /><Relationship Type="http://schemas.openxmlformats.org/officeDocument/2006/relationships/notesMaster" Target="/ppt/notesMasters/notesMaster1.xml" Id="R935abf9134f04f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9cef4bcb0c403d" /><Relationship Type="http://schemas.openxmlformats.org/officeDocument/2006/relationships/notesMaster" Target="/ppt/notesMasters/notesMaster1.xml" Id="R76e28314b5dd49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status: the browser demo creates a salted SHA-256 commitment locally. It does not yet generate a Midnight proof or connect to a deployed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interface uses illustrative data only. The product hypothesis is that coordinator-led savings circles want a private way to check eligibility before a turn is paid.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intended transaction follows Midnight’s witness model: private values enter a circuit during local execution, and a proof can verify assertions without publishing the witness. Official guide: https://docs.midnight.network/guides/private-state-witnesses. The demo currently stops before that proof-generation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Midnight documentation distinguishes public ledger data from private state and witnesses. The circuit must assert any property it relies on. Official guide: https://docs.midnight.network/guides/private-state-witnesses.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first-user segment and pilot are product hypotheses, not reported traction. The prototype has not been deployed. Challenge context and technical gate: https://app.akindo.io/wave-hacks/jaMZjqPOBsLXvjdG.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589ccdc2e4b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ece30862a48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364acd5864c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9edefdc8644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689fe51cb4c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cac67bd4f4f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0AD83A-2272-4E3E-B122-7808D37FFD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C5508F-6B76-42A4-B130-21E0807D27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3F8B53-CE6F-495F-B0FA-D9527A9E4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BA71E9-CA6C-477D-BA0B-A6A6925A4C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D52805-8B97-4C1D-A343-2ECF2A137A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A2DCDD-56FC-428F-B164-9CD79A75BF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D27DEB-E2ED-4322-92E0-B2603226B4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26672F-8430-4DCF-9DAA-F42A15D336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6AF1E3-C43A-4BDE-A8A3-77813D7F85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BD9EC6-3127-41C7-B100-ED91578695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15d83e9263480e" /><Relationship Type="http://schemas.openxmlformats.org/officeDocument/2006/relationships/slideLayout" Target="/ppt/slideLayouts/slideLayout1.xml" Id="R5e486660edee4465" /><Relationship Type="http://schemas.openxmlformats.org/officeDocument/2006/relationships/slideLayout" Target="/ppt/slideLayouts/slideLayout2.xml" Id="Rab7eacadc5f64285" /><Relationship Type="http://schemas.openxmlformats.org/officeDocument/2006/relationships/slideLayout" Target="/ppt/slideLayouts/slideLayout3.xml" Id="R8185fdae3d0349ea" /><Relationship Type="http://schemas.openxmlformats.org/officeDocument/2006/relationships/slideLayout" Target="/ppt/slideLayouts/slideLayout4.xml" Id="Rb7792d19f086402e" /><Relationship Type="http://schemas.openxmlformats.org/officeDocument/2006/relationships/slideLayout" Target="/ppt/slideLayouts/slideLayout5.xml" Id="R697e78305e78470f" /><Relationship Type="http://schemas.openxmlformats.org/officeDocument/2006/relationships/slideLayout" Target="/ppt/slideLayouts/slideLayout6.xml" Id="R586c59e3e6e944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486660edee4465"/>
    <p:sldLayoutId xmlns:r="http://schemas.openxmlformats.org/officeDocument/2006/relationships" id="2147483650" r:id="Rab7eacadc5f64285"/>
    <p:sldLayoutId xmlns:r="http://schemas.openxmlformats.org/officeDocument/2006/relationships" id="2147483651" r:id="R8185fdae3d0349ea"/>
    <p:sldLayoutId xmlns:r="http://schemas.openxmlformats.org/officeDocument/2006/relationships" id="2147483652" r:id="Rb7792d19f086402e"/>
    <p:sldLayoutId xmlns:r="http://schemas.openxmlformats.org/officeDocument/2006/relationships" id="2147483653" r:id="R697e78305e78470f"/>
    <p:sldLayoutId xmlns:r="http://schemas.openxmlformats.org/officeDocument/2006/relationships" id="2147483654" r:id="R586c59e3e6e944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5774bcee0469b" /><Relationship Type="http://schemas.openxmlformats.org/officeDocument/2006/relationships/notesSlide" Target="/ppt/notesSlides/notesSlide1.xml" Id="Rc8e2602092b649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329170cfc4c94" /><Relationship Type="http://schemas.openxmlformats.org/officeDocument/2006/relationships/notesSlide" Target="/ppt/notesSlides/notesSlide2.xml" Id="R6707cb5f8ccc49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3abb477cb4c15" /><Relationship Type="http://schemas.openxmlformats.org/officeDocument/2006/relationships/notesSlide" Target="/ppt/notesSlides/notesSlide3.xml" Id="Rbacea4af420647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1d768b7bd4a10" /><Relationship Type="http://schemas.openxmlformats.org/officeDocument/2006/relationships/notesSlide" Target="/ppt/notesSlides/notesSlide4.xml" Id="R5ba427501f4e4e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ba8b4b45942e9" /><Relationship Type="http://schemas.openxmlformats.org/officeDocument/2006/relationships/notesSlide" Target="/ppt/notesSlides/notesSlide5.xml" Id="R042bc692c3f04d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DAE51E4-3486-4B8D-AA61-4F424896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753DA9D1-66D3-418A-B879-C75F81D7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382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Roundveil</a:t>
            </a:r>
          </a:p>
        </p:txBody>
      </p:sp>
      <p:sp>
        <p:nvSpPr>
          <p:cNvPr id="3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DE2CCEEF-525D-4A75-93A6-C36B1236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7334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contribution eligibility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rotating savings circles</a:t>
            </a:r>
          </a:p>
        </p:txBody>
      </p:sp>
      <p:sp>
        <p:nvSpPr>
          <p:cNvPr id="4" name="cover-support">
            <a:extLst xmlns:a="http://schemas.openxmlformats.org/drawingml/2006/main">
              <a:ext uri="{FF2B5EF4-FFF2-40B4-BE49-F238E27FC236}">
                <a16:creationId xmlns:a16="http://schemas.microsoft.com/office/drawing/2014/main" id="{E9C2F9D3-EBA4-4060-BAEE-6918CD0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714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6CB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6CBE8"/>
                </a:solidFill>
                <a:latin typeface="Arial"/>
                <a:ea typeface="Arial"/>
                <a:cs typeface="Arial"/>
              </a:rPr>
              <a:t>A member can prove they met the circle rule without publishing their amount.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C0D4056F-5D0A-4254-A745-C98D7CF3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wave">
            <a:extLst xmlns:a="http://schemas.openxmlformats.org/drawingml/2006/main">
              <a:ext uri="{FF2B5EF4-FFF2-40B4-BE49-F238E27FC236}">
                <a16:creationId xmlns:a16="http://schemas.microsoft.com/office/drawing/2014/main" id="{686D9FC7-FAB2-474D-BDF9-CBCB2455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BB3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BB3E5"/>
                </a:solidFill>
                <a:latin typeface="Arial"/>
                <a:ea typeface="Arial"/>
                <a:cs typeface="Arial"/>
              </a:rPr>
              <a:t>MIDNIGHT BUILDATHON  ·  WAVE 2 PROTOTYPE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7DF22C22-ED95-422D-A502-66178A8E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0067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demo + Compact source</a:t>
            </a:r>
          </a:p>
        </p:txBody>
      </p:sp>
      <p:sp>
        <p:nvSpPr>
          <p:cNvPr id="8" name="cover-cycle">
            <a:extLst xmlns:a="http://schemas.openxmlformats.org/drawingml/2006/main">
              <a:ext uri="{FF2B5EF4-FFF2-40B4-BE49-F238E27FC236}">
                <a16:creationId xmlns:a16="http://schemas.microsoft.com/office/drawing/2014/main" id="{701030B9-870A-4100-B599-667740C4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530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B2E2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271711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2-kicker">
            <a:extLst xmlns:a="http://schemas.openxmlformats.org/drawingml/2006/main">
              <a:ext uri="{FF2B5EF4-FFF2-40B4-BE49-F238E27FC236}">
                <a16:creationId xmlns:a16="http://schemas.microsoft.com/office/drawing/2014/main" id="{C613F8E9-18A9-48D4-A22B-4327E021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B5BF5"/>
                </a:solidFill>
                <a:latin typeface="Arial"/>
                <a:ea typeface="Arial"/>
                <a:cs typeface="Arial"/>
              </a:rPr>
              <a:t>THE PRIVACY GAP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6065E225-AE21-4818-89D4-B3373E3D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84E"/>
                </a:solidFill>
                <a:latin typeface="Arial"/>
                <a:ea typeface="Arial"/>
                <a:cs typeface="Arial"/>
              </a:rPr>
              <a:t>A contribution check should not expose a member’s history</a:t>
            </a:r>
          </a:p>
        </p:txBody>
      </p:sp>
      <p:sp>
        <p:nvSpPr>
          <p:cNvPr id="3" name="s2-left-label">
            <a:extLst xmlns:a="http://schemas.openxmlformats.org/drawingml/2006/main">
              <a:ext uri="{FF2B5EF4-FFF2-40B4-BE49-F238E27FC236}">
                <a16:creationId xmlns:a16="http://schemas.microsoft.com/office/drawing/2014/main" id="{7BA557F6-B2E9-4D83-A692-8E0C1FA6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37A99"/>
                </a:solidFill>
                <a:latin typeface="Arial"/>
                <a:ea typeface="Arial"/>
                <a:cs typeface="Arial"/>
              </a:rPr>
              <a:t>THE COORDINATOR NEEDS</a:t>
            </a:r>
          </a:p>
        </p:txBody>
      </p:sp>
      <p:sp>
        <p:nvSpPr>
          <p:cNvPr id="4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1460AC0D-DB3F-4543-AA45-4D05792C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E2448"/>
                </a:solidFill>
                <a:latin typeface="Arial"/>
                <a:ea typeface="Arial"/>
                <a:cs typeface="Arial"/>
              </a:rPr>
              <a:t>A clear answer to one question:</a:t>
            </a:r>
          </a:p>
          <a:p xmlns:a="http://schemas.openxmlformats.org/drawingml/2006/main">
            <a:pPr algn="l">
              <a:defRPr sz="21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E2448"/>
                </a:solidFill>
                <a:latin typeface="Arial"/>
                <a:ea typeface="Arial"/>
                <a:cs typeface="Arial"/>
              </a:rPr>
              <a:t>Did this member meet the rule for this turn?</a:t>
            </a:r>
          </a:p>
        </p:txBody>
      </p:sp>
      <p:sp>
        <p:nvSpPr>
          <p:cNvPr id="5" name="s2-left-foot">
            <a:extLst xmlns:a="http://schemas.openxmlformats.org/drawingml/2006/main">
              <a:ext uri="{FF2B5EF4-FFF2-40B4-BE49-F238E27FC236}">
                <a16:creationId xmlns:a16="http://schemas.microsoft.com/office/drawing/2014/main" id="{99F3ED26-21A5-4261-B7EB-71C3E3C1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The group needs confidence before it releases a payout.</a:t>
            </a:r>
          </a:p>
        </p:txBody>
      </p:sp>
      <p:sp>
        <p:nvSpPr>
          <p:cNvPr id="6" name="s2-divider">
            <a:extLst xmlns:a="http://schemas.openxmlformats.org/drawingml/2006/main">
              <a:ext uri="{FF2B5EF4-FFF2-40B4-BE49-F238E27FC236}">
                <a16:creationId xmlns:a16="http://schemas.microsoft.com/office/drawing/2014/main" id="{79D50413-F95C-47B1-9ABA-361977E3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2-right-label">
            <a:extLst xmlns:a="http://schemas.openxmlformats.org/drawingml/2006/main">
              <a:ext uri="{FF2B5EF4-FFF2-40B4-BE49-F238E27FC236}">
                <a16:creationId xmlns:a16="http://schemas.microsoft.com/office/drawing/2014/main" id="{FB08AE72-29DE-4E95-BDCA-E439A30D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65F"/>
                </a:solidFill>
                <a:latin typeface="Arial"/>
                <a:ea typeface="Arial"/>
                <a:cs typeface="Arial"/>
              </a:rPr>
              <a:t>THE PUBLIC DOES NOT NEED</a:t>
            </a:r>
          </a:p>
        </p:txBody>
      </p:sp>
      <p:sp>
        <p:nvSpPr>
          <p:cNvPr id="8" name="s2-right-body">
            <a:extLst xmlns:a="http://schemas.openxmlformats.org/drawingml/2006/main">
              <a:ext uri="{FF2B5EF4-FFF2-40B4-BE49-F238E27FC236}">
                <a16:creationId xmlns:a16="http://schemas.microsoft.com/office/drawing/2014/main" id="{FF82DFC4-BA19-4243-AF57-015683BA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2448"/>
                </a:solidFill>
                <a:latin typeface="Arial"/>
                <a:ea typeface="Arial"/>
                <a:cs typeface="Arial"/>
              </a:rPr>
              <a:t>The amount in a member’s account.</a:t>
            </a:r>
          </a:p>
          <a:p xmlns:a="http://schemas.openxmlformats.org/drawingml/2006/main">
            <a: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2448"/>
                </a:solidFill>
                <a:latin typeface="Arial"/>
                <a:ea typeface="Arial"/>
                <a:cs typeface="Arial"/>
              </a:rPr>
              <a:t>A full contribution history.</a:t>
            </a:r>
          </a:p>
          <a:p xmlns:a="http://schemas.openxmlformats.org/drawingml/2006/main">
            <a:pPr algn="l">
              <a:defRPr sz="1875" b="1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2448"/>
                </a:solidFill>
                <a:latin typeface="Arial"/>
                <a:ea typeface="Arial"/>
                <a:cs typeface="Arial"/>
              </a:rPr>
              <a:t>A name attached to every payment.</a:t>
            </a:r>
          </a:p>
        </p:txBody>
      </p:sp>
      <p:sp>
        <p:nvSpPr>
          <p:cNvPr id="9" name="s2-right-foot">
            <a:extLst xmlns:a="http://schemas.openxmlformats.org/drawingml/2006/main">
              <a:ext uri="{FF2B5EF4-FFF2-40B4-BE49-F238E27FC236}">
                <a16:creationId xmlns:a16="http://schemas.microsoft.com/office/drawing/2014/main" id="{128B61EE-5D80-4510-BA5B-FEBAAAC3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37A99"/>
                </a:solidFill>
                <a:latin typeface="Arial"/>
                <a:ea typeface="Arial"/>
                <a:cs typeface="Arial"/>
              </a:rPr>
              <a:t>Roundveil shares the eligibility result, not the underlying record.</a:t>
            </a:r>
          </a:p>
        </p:txBody>
      </p:sp>
      <p:sp>
        <p:nvSpPr>
          <p:cNvPr id="10" name="s2-footer">
            <a:extLst xmlns:a="http://schemas.openxmlformats.org/drawingml/2006/main">
              <a:ext uri="{FF2B5EF4-FFF2-40B4-BE49-F238E27FC236}">
                <a16:creationId xmlns:a16="http://schemas.microsoft.com/office/drawing/2014/main" id="{FC34B576-BCBC-490A-8ABC-8C4137F3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9AA0B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A0B9"/>
                </a:solidFill>
                <a:latin typeface="Arial"/>
                <a:ea typeface="Arial"/>
                <a:cs typeface="Arial"/>
              </a:rPr>
              <a:t>SAVINGS CIRCLES · COORDINATOR-LED GROUPS</a:t>
            </a:r>
          </a:p>
        </p:txBody>
      </p:sp>
    </p:spTree>
    <p:extLst>
      <p:ext uri="{BB962C8B-B14F-4D97-AF65-F5344CB8AC3E}">
        <p14:creationId xmlns:p14="http://schemas.microsoft.com/office/powerpoint/2010/main" val="1027201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3-kicker">
            <a:extLst xmlns:a="http://schemas.openxmlformats.org/drawingml/2006/main">
              <a:ext uri="{FF2B5EF4-FFF2-40B4-BE49-F238E27FC236}">
                <a16:creationId xmlns:a16="http://schemas.microsoft.com/office/drawing/2014/main" id="{A2521AF6-A9AF-4A9A-9F2B-59AE03EB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B5BF5"/>
                </a:solidFill>
                <a:latin typeface="Arial"/>
                <a:ea typeface="Arial"/>
                <a:cs typeface="Arial"/>
              </a:rPr>
              <a:t>THE PRODUCT FLOW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F94CED5C-F9B9-4FE1-B925-5345547E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4E"/>
                </a:solidFill>
                <a:latin typeface="Arial"/>
                <a:ea typeface="Arial"/>
                <a:cs typeface="Arial"/>
              </a:rPr>
              <a:t>One rule. One private check.</a:t>
            </a:r>
          </a:p>
        </p:txBody>
      </p:sp>
      <p:sp>
        <p:nvSpPr>
          <p:cNvPr id="3" name="s3-number-0">
            <a:extLst xmlns:a="http://schemas.openxmlformats.org/drawingml/2006/main">
              <a:ext uri="{FF2B5EF4-FFF2-40B4-BE49-F238E27FC236}">
                <a16:creationId xmlns:a16="http://schemas.microsoft.com/office/drawing/2014/main" id="{F0A39F37-798F-47F4-AC80-B08CB317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B5B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3-step-rule-0">
            <a:extLst xmlns:a="http://schemas.openxmlformats.org/drawingml/2006/main">
              <a:ext uri="{FF2B5EF4-FFF2-40B4-BE49-F238E27FC236}">
                <a16:creationId xmlns:a16="http://schemas.microsoft.com/office/drawing/2014/main" id="{C1031568-8D0E-44B8-853C-B4C6E930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-step-title-0">
            <a:extLst xmlns:a="http://schemas.openxmlformats.org/drawingml/2006/main">
              <a:ext uri="{FF2B5EF4-FFF2-40B4-BE49-F238E27FC236}">
                <a16:creationId xmlns:a16="http://schemas.microsoft.com/office/drawing/2014/main" id="{19792EDF-69D8-4383-9DC8-0A98BFBE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4E"/>
                </a:solidFill>
                <a:latin typeface="Arial"/>
                <a:ea typeface="Arial"/>
                <a:cs typeface="Arial"/>
              </a:rPr>
              <a:t>Issue a receipt</a:t>
            </a:r>
          </a:p>
        </p:txBody>
      </p:sp>
      <p:sp>
        <p:nvSpPr>
          <p:cNvPr id="6" name="s3-step-body-0">
            <a:extLst xmlns:a="http://schemas.openxmlformats.org/drawingml/2006/main">
              <a:ext uri="{FF2B5EF4-FFF2-40B4-BE49-F238E27FC236}">
                <a16:creationId xmlns:a16="http://schemas.microsoft.com/office/drawing/2014/main" id="{868292BC-0F50-4877-B894-67E6A671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81425"/>
            <a:ext cx="309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A99"/>
                </a:solidFill>
                <a:latin typeface="Arial"/>
                <a:ea typeface="Arial"/>
                <a:cs typeface="Arial"/>
              </a:rPr>
              <a:t>A coordinator confirms the off-chain payment and commits the amount with a random salt.</a:t>
            </a:r>
          </a:p>
        </p:txBody>
      </p:sp>
      <p:sp>
        <p:nvSpPr>
          <p:cNvPr id="7" name="s3-number-1">
            <a:extLst xmlns:a="http://schemas.openxmlformats.org/drawingml/2006/main">
              <a:ext uri="{FF2B5EF4-FFF2-40B4-BE49-F238E27FC236}">
                <a16:creationId xmlns:a16="http://schemas.microsoft.com/office/drawing/2014/main" id="{31B090F5-5CE2-4C52-8092-7EDBF6EE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241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76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3-step-rule-1">
            <a:extLst xmlns:a="http://schemas.openxmlformats.org/drawingml/2006/main">
              <a:ext uri="{FF2B5EF4-FFF2-40B4-BE49-F238E27FC236}">
                <a16:creationId xmlns:a16="http://schemas.microsoft.com/office/drawing/2014/main" id="{C128AA5B-3AF0-4AA8-86E3-B2F50825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90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step-title-1">
            <a:extLst xmlns:a="http://schemas.openxmlformats.org/drawingml/2006/main">
              <a:ext uri="{FF2B5EF4-FFF2-40B4-BE49-F238E27FC236}">
                <a16:creationId xmlns:a16="http://schemas.microsoft.com/office/drawing/2014/main" id="{B037B69E-CFFF-4DF3-87C9-37FA6127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86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4E"/>
                </a:solidFill>
                <a:latin typeface="Arial"/>
                <a:ea typeface="Arial"/>
                <a:cs typeface="Arial"/>
              </a:rPr>
              <a:t>Prove the rule</a:t>
            </a:r>
          </a:p>
        </p:txBody>
      </p:sp>
      <p:sp>
        <p:nvSpPr>
          <p:cNvPr id="10" name="s3-step-body-1">
            <a:extLst xmlns:a="http://schemas.openxmlformats.org/drawingml/2006/main">
              <a:ext uri="{FF2B5EF4-FFF2-40B4-BE49-F238E27FC236}">
                <a16:creationId xmlns:a16="http://schemas.microsoft.com/office/drawing/2014/main" id="{E86F7592-C11E-47AF-A5FD-7F9207F1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81425"/>
            <a:ext cx="309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The member supplies the hidden amount and salt to the Compact circuit. The circuit checks the receipt and minimum.</a:t>
            </a:r>
          </a:p>
        </p:txBody>
      </p:sp>
      <p:sp>
        <p:nvSpPr>
          <p:cNvPr id="11" name="s3-number-2">
            <a:extLst xmlns:a="http://schemas.openxmlformats.org/drawingml/2006/main">
              <a:ext uri="{FF2B5EF4-FFF2-40B4-BE49-F238E27FC236}">
                <a16:creationId xmlns:a16="http://schemas.microsoft.com/office/drawing/2014/main" id="{3711CC81-269C-45FF-8533-D33D367C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B5B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3-step-rule-2">
            <a:extLst xmlns:a="http://schemas.openxmlformats.org/drawingml/2006/main">
              <a:ext uri="{FF2B5EF4-FFF2-40B4-BE49-F238E27FC236}">
                <a16:creationId xmlns:a16="http://schemas.microsoft.com/office/drawing/2014/main" id="{AD2730C0-8EB1-4DF1-8C22-EA629321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3-step-title-2">
            <a:extLst xmlns:a="http://schemas.openxmlformats.org/drawingml/2006/main">
              <a:ext uri="{FF2B5EF4-FFF2-40B4-BE49-F238E27FC236}">
                <a16:creationId xmlns:a16="http://schemas.microsoft.com/office/drawing/2014/main" id="{3F716DA1-4E3B-4182-AD36-386874BC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4E"/>
                </a:solidFill>
                <a:latin typeface="Arial"/>
                <a:ea typeface="Arial"/>
                <a:cs typeface="Arial"/>
              </a:rPr>
              <a:t>Prevent a repeat</a:t>
            </a:r>
          </a:p>
        </p:txBody>
      </p:sp>
      <p:sp>
        <p:nvSpPr>
          <p:cNvPr id="14" name="s3-step-body-2">
            <a:extLst xmlns:a="http://schemas.openxmlformats.org/drawingml/2006/main">
              <a:ext uri="{FF2B5EF4-FFF2-40B4-BE49-F238E27FC236}">
                <a16:creationId xmlns:a16="http://schemas.microsoft.com/office/drawing/2014/main" id="{D139F429-99B5-4E94-A8F3-59D3901C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81425"/>
            <a:ext cx="309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The contract records one claim under a circle-specific tag. The amount stays private.</a:t>
            </a:r>
          </a:p>
        </p:txBody>
      </p:sp>
      <p:sp>
        <p:nvSpPr>
          <p:cNvPr id="15" name="s3-status-strip">
            <a:extLst xmlns:a="http://schemas.openxmlformats.org/drawingml/2006/main">
              <a:ext uri="{FF2B5EF4-FFF2-40B4-BE49-F238E27FC236}">
                <a16:creationId xmlns:a16="http://schemas.microsoft.com/office/drawing/2014/main" id="{FBACFD83-AA22-432D-9F1D-ED493798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3-status">
            <a:extLst xmlns:a="http://schemas.openxmlformats.org/drawingml/2006/main">
              <a:ext uri="{FF2B5EF4-FFF2-40B4-BE49-F238E27FC236}">
                <a16:creationId xmlns:a16="http://schemas.microsoft.com/office/drawing/2014/main" id="{52E65E19-9034-48B8-9B50-7057DF42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53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4E"/>
                </a:solidFill>
                <a:latin typeface="Arial"/>
                <a:ea typeface="Arial"/>
                <a:cs typeface="Arial"/>
              </a:rPr>
              <a:t>NOW  ·  Local eligibility preview</a:t>
            </a:r>
          </a:p>
        </p:txBody>
      </p:sp>
      <p:sp>
        <p:nvSpPr>
          <p:cNvPr id="17" name="s3-next">
            <a:extLst xmlns:a="http://schemas.openxmlformats.org/drawingml/2006/main">
              <a:ext uri="{FF2B5EF4-FFF2-40B4-BE49-F238E27FC236}">
                <a16:creationId xmlns:a16="http://schemas.microsoft.com/office/drawing/2014/main" id="{F5E84321-5A2C-4496-876E-410D0F57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5530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9628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9628E"/>
                </a:solidFill>
                <a:latin typeface="Arial"/>
                <a:ea typeface="Arial"/>
                <a:cs typeface="Arial"/>
              </a:rPr>
              <a:t>NEXT  ·  Midnight.js, Lace, proof server, Preprod</a:t>
            </a:r>
          </a:p>
        </p:txBody>
      </p:sp>
    </p:spTree>
    <p:extLst>
      <p:ext uri="{BB962C8B-B14F-4D97-AF65-F5344CB8AC3E}">
        <p14:creationId xmlns:p14="http://schemas.microsoft.com/office/powerpoint/2010/main" val="1496685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4-kicker">
            <a:extLst xmlns:a="http://schemas.openxmlformats.org/drawingml/2006/main">
              <a:ext uri="{FF2B5EF4-FFF2-40B4-BE49-F238E27FC236}">
                <a16:creationId xmlns:a16="http://schemas.microsoft.com/office/drawing/2014/main" id="{F7FB5D5C-43D0-47B7-8E7B-B749A75C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B5BF5"/>
                </a:solidFill>
                <a:latin typeface="Arial"/>
                <a:ea typeface="Arial"/>
                <a:cs typeface="Arial"/>
              </a:rPr>
              <a:t>THE DATA BOUNDARY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D8DA7D73-B76A-47EC-B993-38A8EA2B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18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4E"/>
                </a:solidFill>
                <a:latin typeface="Arial"/>
                <a:ea typeface="Arial"/>
                <a:cs typeface="Arial"/>
              </a:rPr>
              <a:t>The ledger learns just enough</a:t>
            </a:r>
          </a:p>
        </p:txBody>
      </p:sp>
      <p:sp>
        <p:nvSpPr>
          <p:cNvPr id="3" name="s4-private-head">
            <a:extLst xmlns:a="http://schemas.openxmlformats.org/drawingml/2006/main">
              <a:ext uri="{FF2B5EF4-FFF2-40B4-BE49-F238E27FC236}">
                <a16:creationId xmlns:a16="http://schemas.microsoft.com/office/drawing/2014/main" id="{5EC4C745-7F95-44C5-808A-E8E48C77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B5B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B5BF5"/>
                </a:solidFill>
                <a:latin typeface="Arial"/>
                <a:ea typeface="Arial"/>
                <a:cs typeface="Arial"/>
              </a:rPr>
              <a:t>PRIVATE ON THE MEMBER’S DEVICE</a:t>
            </a:r>
          </a:p>
        </p:txBody>
      </p:sp>
      <p:sp>
        <p:nvSpPr>
          <p:cNvPr id="4" name="s4-public-head">
            <a:extLst xmlns:a="http://schemas.openxmlformats.org/drawingml/2006/main">
              <a:ext uri="{FF2B5EF4-FFF2-40B4-BE49-F238E27FC236}">
                <a16:creationId xmlns:a16="http://schemas.microsoft.com/office/drawing/2014/main" id="{A4901A60-7890-49FD-9DF6-B6624560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6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65F"/>
                </a:solidFill>
                <a:latin typeface="Arial"/>
                <a:ea typeface="Arial"/>
                <a:cs typeface="Arial"/>
              </a:rPr>
              <a:t>PUBLIC ON THE LEDGER</a:t>
            </a:r>
          </a:p>
        </p:txBody>
      </p:sp>
      <p:sp>
        <p:nvSpPr>
          <p:cNvPr id="5" name="s4-private-head-rule">
            <a:extLst xmlns:a="http://schemas.openxmlformats.org/drawingml/2006/main">
              <a:ext uri="{FF2B5EF4-FFF2-40B4-BE49-F238E27FC236}">
                <a16:creationId xmlns:a16="http://schemas.microsoft.com/office/drawing/2014/main" id="{61A53FFC-A7C1-4978-B969-BA72C1EB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4-public-head-rule">
            <a:extLst xmlns:a="http://schemas.openxmlformats.org/drawingml/2006/main">
              <a:ext uri="{FF2B5EF4-FFF2-40B4-BE49-F238E27FC236}">
                <a16:creationId xmlns:a16="http://schemas.microsoft.com/office/drawing/2014/main" id="{6549C8E3-C975-4F2D-B673-0D35B626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left-0">
            <a:extLst xmlns:a="http://schemas.openxmlformats.org/drawingml/2006/main">
              <a:ext uri="{FF2B5EF4-FFF2-40B4-BE49-F238E27FC236}">
                <a16:creationId xmlns:a16="http://schemas.microsoft.com/office/drawing/2014/main" id="{C2D793AA-6740-443C-817B-9623EBA3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448"/>
                </a:solidFill>
                <a:latin typeface="Arial"/>
                <a:ea typeface="Arial"/>
                <a:cs typeface="Arial"/>
              </a:rPr>
              <a:t>Member secret</a:t>
            </a:r>
          </a:p>
        </p:txBody>
      </p:sp>
      <p:sp>
        <p:nvSpPr>
          <p:cNvPr id="8" name="s4-right-0">
            <a:extLst xmlns:a="http://schemas.openxmlformats.org/drawingml/2006/main">
              <a:ext uri="{FF2B5EF4-FFF2-40B4-BE49-F238E27FC236}">
                <a16:creationId xmlns:a16="http://schemas.microsoft.com/office/drawing/2014/main" id="{E90FC017-E42B-4F11-B303-5DFC768B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448"/>
                </a:solidFill>
                <a:latin typeface="Arial"/>
                <a:ea typeface="Arial"/>
                <a:cs typeface="Arial"/>
              </a:rPr>
              <a:t>Minimum contribution rule</a:t>
            </a:r>
          </a:p>
        </p:txBody>
      </p:sp>
      <p:sp>
        <p:nvSpPr>
          <p:cNvPr id="9" name="s4-left-rule-0">
            <a:extLst xmlns:a="http://schemas.openxmlformats.org/drawingml/2006/main">
              <a:ext uri="{FF2B5EF4-FFF2-40B4-BE49-F238E27FC236}">
                <a16:creationId xmlns:a16="http://schemas.microsoft.com/office/drawing/2014/main" id="{AF935DE7-4449-4E57-8EAE-F430B7A0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4-right-rule-0">
            <a:extLst xmlns:a="http://schemas.openxmlformats.org/drawingml/2006/main">
              <a:ext uri="{FF2B5EF4-FFF2-40B4-BE49-F238E27FC236}">
                <a16:creationId xmlns:a16="http://schemas.microsoft.com/office/drawing/2014/main" id="{0DC6990F-49A2-4AA2-8FFA-7D0CD60C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left-1">
            <a:extLst xmlns:a="http://schemas.openxmlformats.org/drawingml/2006/main">
              <a:ext uri="{FF2B5EF4-FFF2-40B4-BE49-F238E27FC236}">
                <a16:creationId xmlns:a16="http://schemas.microsoft.com/office/drawing/2014/main" id="{21A8168E-1C47-4206-B115-1183EB8C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448"/>
                </a:solidFill>
                <a:latin typeface="Arial"/>
                <a:ea typeface="Arial"/>
                <a:cs typeface="Arial"/>
              </a:rPr>
              <a:t>Contribution amount</a:t>
            </a:r>
          </a:p>
        </p:txBody>
      </p:sp>
      <p:sp>
        <p:nvSpPr>
          <p:cNvPr id="12" name="s4-right-1">
            <a:extLst xmlns:a="http://schemas.openxmlformats.org/drawingml/2006/main">
              <a:ext uri="{FF2B5EF4-FFF2-40B4-BE49-F238E27FC236}">
                <a16:creationId xmlns:a16="http://schemas.microsoft.com/office/drawing/2014/main" id="{B05FF01F-D4DF-49F7-ADE3-513A0B8F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04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448"/>
                </a:solidFill>
                <a:latin typeface="Arial"/>
                <a:ea typeface="Arial"/>
                <a:cs typeface="Arial"/>
              </a:rPr>
              <a:t>Circle-specific blinded tag</a:t>
            </a:r>
          </a:p>
        </p:txBody>
      </p:sp>
      <p:sp>
        <p:nvSpPr>
          <p:cNvPr id="13" name="s4-left-rule-1">
            <a:extLst xmlns:a="http://schemas.openxmlformats.org/drawingml/2006/main">
              <a:ext uri="{FF2B5EF4-FFF2-40B4-BE49-F238E27FC236}">
                <a16:creationId xmlns:a16="http://schemas.microsoft.com/office/drawing/2014/main" id="{834783A6-93AA-4A0D-BB38-2CE7BF8A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right-rule-1">
            <a:extLst xmlns:a="http://schemas.openxmlformats.org/drawingml/2006/main">
              <a:ext uri="{FF2B5EF4-FFF2-40B4-BE49-F238E27FC236}">
                <a16:creationId xmlns:a16="http://schemas.microsoft.com/office/drawing/2014/main" id="{24A0D203-4AB7-431D-970D-3C5F30A8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004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4-left-2">
            <a:extLst xmlns:a="http://schemas.openxmlformats.org/drawingml/2006/main">
              <a:ext uri="{FF2B5EF4-FFF2-40B4-BE49-F238E27FC236}">
                <a16:creationId xmlns:a16="http://schemas.microsoft.com/office/drawing/2014/main" id="{0E285FE9-F493-4F32-8B06-7FA0BF6F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448"/>
                </a:solidFill>
                <a:latin typeface="Arial"/>
                <a:ea typeface="Arial"/>
                <a:cs typeface="Arial"/>
              </a:rPr>
              <a:t>Receipt salt</a:t>
            </a:r>
          </a:p>
        </p:txBody>
      </p:sp>
      <p:sp>
        <p:nvSpPr>
          <p:cNvPr id="16" name="s4-right-2">
            <a:extLst xmlns:a="http://schemas.openxmlformats.org/drawingml/2006/main">
              <a:ext uri="{FF2B5EF4-FFF2-40B4-BE49-F238E27FC236}">
                <a16:creationId xmlns:a16="http://schemas.microsoft.com/office/drawing/2014/main" id="{CD4333AB-0C3C-4CB9-A0B0-F8B39FFA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448"/>
                </a:solidFill>
                <a:latin typeface="Arial"/>
                <a:ea typeface="Arial"/>
                <a:cs typeface="Arial"/>
              </a:rPr>
              <a:t>Salted receipt commitment</a:t>
            </a:r>
          </a:p>
        </p:txBody>
      </p:sp>
      <p:sp>
        <p:nvSpPr>
          <p:cNvPr id="17" name="s4-left-rule-2">
            <a:extLst xmlns:a="http://schemas.openxmlformats.org/drawingml/2006/main">
              <a:ext uri="{FF2B5EF4-FFF2-40B4-BE49-F238E27FC236}">
                <a16:creationId xmlns:a16="http://schemas.microsoft.com/office/drawing/2014/main" id="{CDFC19C9-2217-4892-82F9-88BBFB8E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4-right-rule-2">
            <a:extLst xmlns:a="http://schemas.openxmlformats.org/drawingml/2006/main">
              <a:ext uri="{FF2B5EF4-FFF2-40B4-BE49-F238E27FC236}">
                <a16:creationId xmlns:a16="http://schemas.microsoft.com/office/drawing/2014/main" id="{3620B829-F516-422D-8E9B-47B5C173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4-left-3">
            <a:extLst xmlns:a="http://schemas.openxmlformats.org/drawingml/2006/main">
              <a:ext uri="{FF2B5EF4-FFF2-40B4-BE49-F238E27FC236}">
                <a16:creationId xmlns:a16="http://schemas.microsoft.com/office/drawing/2014/main" id="{2DD28D9D-1E82-4F3E-AE8B-D96406ED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448"/>
                </a:solidFill>
                <a:latin typeface="Arial"/>
                <a:ea typeface="Arial"/>
                <a:cs typeface="Arial"/>
              </a:rPr>
              <a:t>Coordinator issuer secret</a:t>
            </a:r>
          </a:p>
        </p:txBody>
      </p:sp>
      <p:sp>
        <p:nvSpPr>
          <p:cNvPr id="20" name="s4-right-3">
            <a:extLst xmlns:a="http://schemas.openxmlformats.org/drawingml/2006/main">
              <a:ext uri="{FF2B5EF4-FFF2-40B4-BE49-F238E27FC236}">
                <a16:creationId xmlns:a16="http://schemas.microsoft.com/office/drawing/2014/main" id="{D07A8F0F-1D48-4F71-AC95-0FBB24D2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862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E24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448"/>
                </a:solidFill>
                <a:latin typeface="Arial"/>
                <a:ea typeface="Arial"/>
                <a:cs typeface="Arial"/>
              </a:rPr>
              <a:t>Claim marker for that tag</a:t>
            </a:r>
          </a:p>
        </p:txBody>
      </p:sp>
      <p:sp>
        <p:nvSpPr>
          <p:cNvPr id="21" name="s4-caveat">
            <a:extLst xmlns:a="http://schemas.openxmlformats.org/drawingml/2006/main">
              <a:ext uri="{FF2B5EF4-FFF2-40B4-BE49-F238E27FC236}">
                <a16:creationId xmlns:a16="http://schemas.microsoft.com/office/drawing/2014/main" id="{AE5B559B-A958-41C7-A969-4ADE2E22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382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4-caveat-title">
            <a:extLst xmlns:a="http://schemas.openxmlformats.org/drawingml/2006/main">
              <a:ext uri="{FF2B5EF4-FFF2-40B4-BE49-F238E27FC236}">
                <a16:creationId xmlns:a16="http://schemas.microsoft.com/office/drawing/2014/main" id="{DC1951E1-E80F-4DA8-B38F-8BAED7DF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tag prevents a second claim.</a:t>
            </a:r>
          </a:p>
        </p:txBody>
      </p:sp>
      <p:sp>
        <p:nvSpPr>
          <p:cNvPr id="23" name="s4-caveat-body">
            <a:extLst xmlns:a="http://schemas.openxmlformats.org/drawingml/2006/main">
              <a:ext uri="{FF2B5EF4-FFF2-40B4-BE49-F238E27FC236}">
                <a16:creationId xmlns:a16="http://schemas.microsoft.com/office/drawing/2014/main" id="{CCE76636-836B-402F-B373-C6C4ED8B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292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8CD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DE9"/>
                </a:solidFill>
                <a:latin typeface="Arial"/>
                <a:ea typeface="Arial"/>
                <a:cs typeface="Arial"/>
              </a:rPr>
              <a:t>It stays linkable inside one circle. The prototype makes that privacy limit explicit.</a:t>
            </a:r>
          </a:p>
        </p:txBody>
      </p:sp>
    </p:spTree>
    <p:extLst>
      <p:ext uri="{BB962C8B-B14F-4D97-AF65-F5344CB8AC3E}">
        <p14:creationId xmlns:p14="http://schemas.microsoft.com/office/powerpoint/2010/main" val="794356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5-kicker">
            <a:extLst xmlns:a="http://schemas.openxmlformats.org/drawingml/2006/main">
              <a:ext uri="{FF2B5EF4-FFF2-40B4-BE49-F238E27FC236}">
                <a16:creationId xmlns:a16="http://schemas.microsoft.com/office/drawing/2014/main" id="{A71CA3E6-F2AF-4BA8-B435-C7987A54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AB4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4FF"/>
                </a:solidFill>
                <a:latin typeface="Arial"/>
                <a:ea typeface="Arial"/>
                <a:cs typeface="Arial"/>
              </a:rPr>
              <a:t>ADOPTION PATH</a:t>
            </a:r>
          </a:p>
        </p:txBody>
      </p:sp>
      <p:sp>
        <p:nvSpPr>
          <p:cNvPr id="2" name="s5-title">
            <a:extLst xmlns:a="http://schemas.openxmlformats.org/drawingml/2006/main">
              <a:ext uri="{FF2B5EF4-FFF2-40B4-BE49-F238E27FC236}">
                <a16:creationId xmlns:a16="http://schemas.microsoft.com/office/drawing/2014/main" id="{0866EEA4-D4F6-4644-84EC-3BAFDD69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10382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with circles that already have a coordinator</a:t>
            </a:r>
          </a:p>
        </p:txBody>
      </p:sp>
      <p:sp>
        <p:nvSpPr>
          <p:cNvPr id="3" name="s5-market-label">
            <a:extLst xmlns:a="http://schemas.openxmlformats.org/drawingml/2006/main">
              <a:ext uri="{FF2B5EF4-FFF2-40B4-BE49-F238E27FC236}">
                <a16:creationId xmlns:a16="http://schemas.microsoft.com/office/drawing/2014/main" id="{C34935C6-2E33-40FF-A499-129A6456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4E4"/>
                </a:solidFill>
                <a:latin typeface="Arial"/>
                <a:ea typeface="Arial"/>
                <a:cs typeface="Arial"/>
              </a:rPr>
              <a:t>FIRST USERS</a:t>
            </a:r>
          </a:p>
        </p:txBody>
      </p:sp>
      <p:sp>
        <p:nvSpPr>
          <p:cNvPr id="4" name="s5-market">
            <a:extLst xmlns:a="http://schemas.openxmlformats.org/drawingml/2006/main">
              <a:ext uri="{FF2B5EF4-FFF2-40B4-BE49-F238E27FC236}">
                <a16:creationId xmlns:a16="http://schemas.microsoft.com/office/drawing/2014/main" id="{1A81BD59-B9AD-412B-9B91-44C6CA48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Workplace and trade association savings groups that already keep a contribution record.</a:t>
            </a:r>
          </a:p>
        </p:txBody>
      </p:sp>
      <p:sp>
        <p:nvSpPr>
          <p:cNvPr id="5" name="s5-divider">
            <a:extLst xmlns:a="http://schemas.openxmlformats.org/drawingml/2006/main">
              <a:ext uri="{FF2B5EF4-FFF2-40B4-BE49-F238E27FC236}">
                <a16:creationId xmlns:a16="http://schemas.microsoft.com/office/drawing/2014/main" id="{EB8C318F-1798-4964-95FB-E334636B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76500"/>
            <a:ext cx="190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-wedge-label">
            <a:extLst xmlns:a="http://schemas.openxmlformats.org/drawingml/2006/main">
              <a:ext uri="{FF2B5EF4-FFF2-40B4-BE49-F238E27FC236}">
                <a16:creationId xmlns:a16="http://schemas.microsoft.com/office/drawing/2014/main" id="{B43AA22E-B336-4A29-8EE0-8E811CA5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5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AB4E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4E4"/>
                </a:solidFill>
                <a:latin typeface="Arial"/>
                <a:ea typeface="Arial"/>
                <a:cs typeface="Arial"/>
              </a:rPr>
              <a:t>FIRST WEDGE</a:t>
            </a:r>
          </a:p>
        </p:txBody>
      </p:sp>
      <p:sp>
        <p:nvSpPr>
          <p:cNvPr id="7" name="s5-wedge">
            <a:extLst xmlns:a="http://schemas.openxmlformats.org/drawingml/2006/main">
              <a:ext uri="{FF2B5EF4-FFF2-40B4-BE49-F238E27FC236}">
                <a16:creationId xmlns:a16="http://schemas.microsoft.com/office/drawing/2014/main" id="{954EC5D0-8745-42AC-B0B4-217DA3CD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1465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Eligibility checks before a payout, without taking custody of the group’s money.</a:t>
            </a:r>
          </a:p>
        </p:txBody>
      </p:sp>
      <p:sp>
        <p:nvSpPr>
          <p:cNvPr id="8" name="s5-roadmap-label">
            <a:extLst xmlns:a="http://schemas.openxmlformats.org/drawingml/2006/main">
              <a:ext uri="{FF2B5EF4-FFF2-40B4-BE49-F238E27FC236}">
                <a16:creationId xmlns:a16="http://schemas.microsoft.com/office/drawing/2014/main" id="{AA7ADDBB-2FCD-4434-9664-07F43003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AA9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AA96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9" name="s5-roadmap">
            <a:extLst xmlns:a="http://schemas.openxmlformats.org/drawingml/2006/main">
              <a:ext uri="{FF2B5EF4-FFF2-40B4-BE49-F238E27FC236}">
                <a16:creationId xmlns:a16="http://schemas.microsoft.com/office/drawing/2014/main" id="{CDB43175-2A55-445A-B984-76471396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D3D8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3D8F2"/>
                </a:solidFill>
                <a:latin typeface="Arial"/>
                <a:ea typeface="Arial"/>
                <a:cs typeface="Arial"/>
              </a:rPr>
              <a:t>Connect Midnight.js and Lace, run the circuits against the local proof server, then test with a small pilot circle.</a:t>
            </a:r>
          </a:p>
        </p:txBody>
      </p:sp>
      <p:sp>
        <p:nvSpPr>
          <p:cNvPr id="10" name="s5-footer-rule">
            <a:extLst xmlns:a="http://schemas.openxmlformats.org/drawingml/2006/main">
              <a:ext uri="{FF2B5EF4-FFF2-40B4-BE49-F238E27FC236}">
                <a16:creationId xmlns:a16="http://schemas.microsoft.com/office/drawing/2014/main" id="{7A990BD9-ED8F-4474-87A3-D9403332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status">
            <a:extLst xmlns:a="http://schemas.openxmlformats.org/drawingml/2006/main">
              <a:ext uri="{FF2B5EF4-FFF2-40B4-BE49-F238E27FC236}">
                <a16:creationId xmlns:a16="http://schemas.microsoft.com/office/drawing/2014/main" id="{39CA4219-9105-43BA-9604-666C5864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B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5A5"/>
                </a:solidFill>
                <a:latin typeface="Arial"/>
                <a:ea typeface="Arial"/>
                <a:cs typeface="Arial"/>
              </a:rPr>
              <a:t>PROTOTYPE  ·  No wallet connection, deployed contract, or live proof claimed</a:t>
            </a:r>
          </a:p>
        </p:txBody>
      </p:sp>
      <p:sp>
        <p:nvSpPr>
          <p:cNvPr id="12" name="s5-page">
            <a:extLst xmlns:a="http://schemas.openxmlformats.org/drawingml/2006/main">
              <a:ext uri="{FF2B5EF4-FFF2-40B4-BE49-F238E27FC236}">
                <a16:creationId xmlns:a16="http://schemas.microsoft.com/office/drawing/2014/main" id="{968DDA7E-9AF6-470C-ADCA-C0CC6199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943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AAB2E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B2E2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1762398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2026-10-19T13:59:36.9560000Z</dcterms:created>
  <dcterms:modified xsi:type="dcterms:W3CDTF">2026-10-19T13:59:36.9560000Z</dcterms:modified>
</coreProperties>
</file>